
<file path=[Content_Types].xml><?xml version="1.0" encoding="utf-8"?>
<Types xmlns="http://schemas.openxmlformats.org/package/2006/content-types">
  <Default Extension="4Pcpw2aCdNs_qFwVIVQG3gHaEK" ContentType="image/jpeg"/>
  <Default Extension="ANy13L0cBGQHnEmFGaqONgHaEK" ContentType="image/jpeg"/>
  <Default Extension="E9dk1bU-cRyfxdMYlvrxqwHaEZ" ContentType="image/jpeg"/>
  <Default Extension="Ikpqcrp8FeneR4a-VPe0sQHaE8" ContentType="image/jpeg"/>
  <Default Extension="jab2Kt-z9h0c-Qd3RZ30SwHaE8" ContentType="image/jpeg"/>
  <Default Extension="jrOHW-VsZhBmhJ0lFi-pPQAAAA" ContentType="image/jpeg"/>
  <Default Extension="png" ContentType="image/png"/>
  <Default Extension="rels" ContentType="application/vnd.openxmlformats-package.relationships+xml"/>
  <Default Extension="XkcUktmByaY16_YXRNF_RQHaEK" ContentType="image/jpeg"/>
  <Default Extension="xml" ContentType="application/xml"/>
  <Default Extension="XNGHTOJpfEY0GinD-dzSRwHaEU" ContentType="image/jpeg"/>
  <Default Extension="x_PjSGJRkzRx3mx4w7gANwHaEE"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60" r:id="rId4"/>
    <p:sldId id="261" r:id="rId5"/>
    <p:sldId id="262" r:id="rId6"/>
    <p:sldId id="276" r:id="rId7"/>
    <p:sldId id="277" r:id="rId8"/>
    <p:sldId id="278" r:id="rId9"/>
    <p:sldId id="279" r:id="rId10"/>
    <p:sldId id="267" r:id="rId11"/>
    <p:sldId id="268" r:id="rId12"/>
    <p:sldId id="270"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jai Kanna." userId="2f78b31bd2d86ef8" providerId="LiveId" clId="{3D89CAA5-4545-479F-96E3-F272967C9117}"/>
    <pc:docChg chg="custSel modSld">
      <pc:chgData name="Sanjai Kanna." userId="2f78b31bd2d86ef8" providerId="LiveId" clId="{3D89CAA5-4545-479F-96E3-F272967C9117}" dt="2026-10-25T23:27:37.253" v="124" actId="1076"/>
      <pc:docMkLst>
        <pc:docMk/>
      </pc:docMkLst>
      <pc:sldChg chg="modSp mod">
        <pc:chgData name="Sanjai Kanna." userId="2f78b31bd2d86ef8" providerId="LiveId" clId="{3D89CAA5-4545-479F-96E3-F272967C9117}" dt="2026-10-25T23:27:37.253" v="124" actId="1076"/>
        <pc:sldMkLst>
          <pc:docMk/>
          <pc:sldMk cId="0" sldId="256"/>
        </pc:sldMkLst>
        <pc:spChg chg="mod">
          <ac:chgData name="Sanjai Kanna." userId="2f78b31bd2d86ef8" providerId="LiveId" clId="{3D89CAA5-4545-479F-96E3-F272967C9117}" dt="2026-10-25T23:27:37.253" v="124" actId="1076"/>
          <ac:spMkLst>
            <pc:docMk/>
            <pc:sldMk cId="0" sldId="256"/>
            <ac:spMk id="6" creationId="{00000000-0000-0000-0000-000000000000}"/>
          </ac:spMkLst>
        </pc:spChg>
        <pc:spChg chg="mod">
          <ac:chgData name="Sanjai Kanna." userId="2f78b31bd2d86ef8" providerId="LiveId" clId="{3D89CAA5-4545-479F-96E3-F272967C9117}" dt="2026-10-25T23:27:31.444" v="123" actId="20577"/>
          <ac:spMkLst>
            <pc:docMk/>
            <pc:sldMk cId="0" sldId="256"/>
            <ac:spMk id="7" creationId="{00000000-0000-0000-0000-000000000000}"/>
          </ac:spMkLst>
        </pc:spChg>
      </pc:sldChg>
      <pc:sldChg chg="modSp mod">
        <pc:chgData name="Sanjai Kanna." userId="2f78b31bd2d86ef8" providerId="LiveId" clId="{3D89CAA5-4545-479F-96E3-F272967C9117}" dt="2026-10-25T23:21:07.307" v="46" actId="20577"/>
        <pc:sldMkLst>
          <pc:docMk/>
          <pc:sldMk cId="0" sldId="260"/>
        </pc:sldMkLst>
        <pc:spChg chg="mod">
          <ac:chgData name="Sanjai Kanna." userId="2f78b31bd2d86ef8" providerId="LiveId" clId="{3D89CAA5-4545-479F-96E3-F272967C9117}" dt="2026-10-25T23:21:07.307" v="46" actId="20577"/>
          <ac:spMkLst>
            <pc:docMk/>
            <pc:sldMk cId="0" sldId="260"/>
            <ac:spMk id="19" creationId="{00000000-0000-0000-0000-000000000000}"/>
          </ac:spMkLst>
        </pc:spChg>
      </pc:sldChg>
      <pc:sldChg chg="delSp modSp mod">
        <pc:chgData name="Sanjai Kanna." userId="2f78b31bd2d86ef8" providerId="LiveId" clId="{3D89CAA5-4545-479F-96E3-F272967C9117}" dt="2026-10-25T23:20:22.543" v="34" actId="20577"/>
        <pc:sldMkLst>
          <pc:docMk/>
          <pc:sldMk cId="0" sldId="270"/>
        </pc:sldMkLst>
        <pc:spChg chg="mod">
          <ac:chgData name="Sanjai Kanna." userId="2f78b31bd2d86ef8" providerId="LiveId" clId="{3D89CAA5-4545-479F-96E3-F272967C9117}" dt="2026-10-25T23:20:22.543" v="34" actId="20577"/>
          <ac:spMkLst>
            <pc:docMk/>
            <pc:sldMk cId="0" sldId="270"/>
            <ac:spMk id="4" creationId="{00000000-0000-0000-0000-000000000000}"/>
          </ac:spMkLst>
        </pc:spChg>
        <pc:spChg chg="del mod">
          <ac:chgData name="Sanjai Kanna." userId="2f78b31bd2d86ef8" providerId="LiveId" clId="{3D89CAA5-4545-479F-96E3-F272967C9117}" dt="2026-10-25T23:19:47.806" v="8" actId="478"/>
          <ac:spMkLst>
            <pc:docMk/>
            <pc:sldMk cId="0" sldId="270"/>
            <ac:spMk id="5" creationId="{00000000-0000-0000-0000-000000000000}"/>
          </ac:spMkLst>
        </pc:spChg>
        <pc:spChg chg="mod">
          <ac:chgData name="Sanjai Kanna." userId="2f78b31bd2d86ef8" providerId="LiveId" clId="{3D89CAA5-4545-479F-96E3-F272967C9117}" dt="2026-10-25T23:19:07.986" v="5" actId="1076"/>
          <ac:spMkLst>
            <pc:docMk/>
            <pc:sldMk cId="0" sldId="270"/>
            <ac:spMk id="15" creationId="{AE535894-CD3D-6BBB-78EE-9EFEFBBD9A6A}"/>
          </ac:spMkLst>
        </pc:spChg>
        <pc:spChg chg="mod">
          <ac:chgData name="Sanjai Kanna." userId="2f78b31bd2d86ef8" providerId="LiveId" clId="{3D89CAA5-4545-479F-96E3-F272967C9117}" dt="2026-10-25T23:19:39.347" v="6" actId="1076"/>
          <ac:spMkLst>
            <pc:docMk/>
            <pc:sldMk cId="0" sldId="270"/>
            <ac:spMk id="17" creationId="{6C21E411-0309-39E5-8296-C5F801F37746}"/>
          </ac:spMkLst>
        </pc:spChg>
      </pc:sldChg>
      <pc:sldChg chg="delSp mod">
        <pc:chgData name="Sanjai Kanna." userId="2f78b31bd2d86ef8" providerId="LiveId" clId="{3D89CAA5-4545-479F-96E3-F272967C9117}" dt="2026-10-25T23:18:25.793" v="0" actId="478"/>
        <pc:sldMkLst>
          <pc:docMk/>
          <pc:sldMk cId="0" sldId="277"/>
        </pc:sldMkLst>
        <pc:spChg chg="del">
          <ac:chgData name="Sanjai Kanna." userId="2f78b31bd2d86ef8" providerId="LiveId" clId="{3D89CAA5-4545-479F-96E3-F272967C9117}" dt="2026-10-25T23:18:25.793" v="0" actId="478"/>
          <ac:spMkLst>
            <pc:docMk/>
            <pc:sldMk cId="0" sldId="277"/>
            <ac:spMk id="4" creationId="{00000000-0000-0000-0000-000000000000}"/>
          </ac:spMkLst>
        </pc:spChg>
      </pc:sldChg>
      <pc:sldChg chg="delSp modSp mod">
        <pc:chgData name="Sanjai Kanna." userId="2f78b31bd2d86ef8" providerId="LiveId" clId="{3D89CAA5-4545-479F-96E3-F272967C9117}" dt="2026-10-25T23:27:12.411" v="49" actId="1076"/>
        <pc:sldMkLst>
          <pc:docMk/>
          <pc:sldMk cId="0" sldId="278"/>
        </pc:sldMkLst>
        <pc:spChg chg="del mod">
          <ac:chgData name="Sanjai Kanna." userId="2f78b31bd2d86ef8" providerId="LiveId" clId="{3D89CAA5-4545-479F-96E3-F272967C9117}" dt="2026-10-25T23:18:42.166" v="2" actId="478"/>
          <ac:spMkLst>
            <pc:docMk/>
            <pc:sldMk cId="0" sldId="278"/>
            <ac:spMk id="4" creationId="{00000000-0000-0000-0000-000000000000}"/>
          </ac:spMkLst>
        </pc:spChg>
        <pc:spChg chg="mod">
          <ac:chgData name="Sanjai Kanna." userId="2f78b31bd2d86ef8" providerId="LiveId" clId="{3D89CAA5-4545-479F-96E3-F272967C9117}" dt="2026-10-25T23:27:12.411" v="49" actId="1076"/>
          <ac:spMkLst>
            <pc:docMk/>
            <pc:sldMk cId="0" sldId="278"/>
            <ac:spMk id="12" creationId="{00000000-0000-0000-0000-000000000000}"/>
          </ac:spMkLst>
        </pc:spChg>
      </pc:sldChg>
      <pc:sldChg chg="delSp modSp mod">
        <pc:chgData name="Sanjai Kanna." userId="2f78b31bd2d86ef8" providerId="LiveId" clId="{3D89CAA5-4545-479F-96E3-F272967C9117}" dt="2026-10-25T23:26:39.313" v="48" actId="207"/>
        <pc:sldMkLst>
          <pc:docMk/>
          <pc:sldMk cId="0" sldId="279"/>
        </pc:sldMkLst>
        <pc:spChg chg="del">
          <ac:chgData name="Sanjai Kanna." userId="2f78b31bd2d86ef8" providerId="LiveId" clId="{3D89CAA5-4545-479F-96E3-F272967C9117}" dt="2026-10-25T23:18:48.157" v="3" actId="478"/>
          <ac:spMkLst>
            <pc:docMk/>
            <pc:sldMk cId="0" sldId="279"/>
            <ac:spMk id="4" creationId="{00000000-0000-0000-0000-000000000000}"/>
          </ac:spMkLst>
        </pc:spChg>
        <pc:spChg chg="mod">
          <ac:chgData name="Sanjai Kanna." userId="2f78b31bd2d86ef8" providerId="LiveId" clId="{3D89CAA5-4545-479F-96E3-F272967C9117}" dt="2026-10-25T23:26:31.256" v="47" actId="20577"/>
          <ac:spMkLst>
            <pc:docMk/>
            <pc:sldMk cId="0" sldId="279"/>
            <ac:spMk id="13" creationId="{00000000-0000-0000-0000-000000000000}"/>
          </ac:spMkLst>
        </pc:spChg>
        <pc:spChg chg="mod">
          <ac:chgData name="Sanjai Kanna." userId="2f78b31bd2d86ef8" providerId="LiveId" clId="{3D89CAA5-4545-479F-96E3-F272967C9117}" dt="2026-10-25T23:26:39.313" v="48" actId="207"/>
          <ac:spMkLst>
            <pc:docMk/>
            <pc:sldMk cId="0" sldId="279"/>
            <ac:spMk id="2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2789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45037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Ikpqcrp8FeneR4a-VPe0sQHaE8"/><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x_PjSGJRkzRx3mx4w7gANwHaEE"/><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E9dk1bU-cRyfxdMYlvrxqwHaEZ"/><Relationship Id="rId5" Type="http://schemas.openxmlformats.org/officeDocument/2006/relationships/image" Target="../media/image4.XNGHTOJpfEY0GinD-dzSRwHaEU"/><Relationship Id="rId4" Type="http://schemas.openxmlformats.org/officeDocument/2006/relationships/image" Target="../media/image3.jrOHW-VsZhBmhJ0lFi-pPQAAAA"/></Relationships>
</file>

<file path=ppt/slides/_rels/slide3.xml.rels><?xml version="1.0" encoding="UTF-8" standalone="yes"?>
<Relationships xmlns="http://schemas.openxmlformats.org/package/2006/relationships"><Relationship Id="rId3" Type="http://schemas.openxmlformats.org/officeDocument/2006/relationships/image" Target="../media/image6.4Pcpw2aCdNs_qFwVIVQG3gHaEK"/><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jab2Kt-z9h0c-Qd3RZ30SwHaE8"/><Relationship Id="rId4" Type="http://schemas.openxmlformats.org/officeDocument/2006/relationships/image" Target="../media/image7.ANy13L0cBGQHnEmFGaqONgHaEK"/></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XkcUktmByaY16_YXRNF_RQHaEK"/></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Ikpqcrp8FeneR4a-VPe0sQHaE8"/><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3" name="Text 1"/>
          <p:cNvSpPr/>
          <p:nvPr/>
        </p:nvSpPr>
        <p:spPr>
          <a:xfrm>
            <a:off x="640080" y="1645920"/>
            <a:ext cx="10058400" cy="320040"/>
          </a:xfrm>
          <a:prstGeom prst="rect">
            <a:avLst/>
          </a:prstGeom>
          <a:noFill/>
          <a:ln/>
        </p:spPr>
        <p:txBody>
          <a:bodyPr wrap="square" rtlCol="0" anchor="ctr"/>
          <a:lstStyle/>
          <a:p>
            <a:pPr marL="0" indent="0">
              <a:buNone/>
            </a:pPr>
            <a:r>
              <a:rPr lang="en-US" sz="1300" b="1" kern="0" spc="300" dirty="0">
                <a:solidFill>
                  <a:srgbClr val="C00000"/>
                </a:solidFill>
                <a:latin typeface="Calibri" pitchFamily="34" charset="0"/>
                <a:ea typeface="Calibri" pitchFamily="34" charset="-122"/>
                <a:cs typeface="Calibri" pitchFamily="34" charset="-120"/>
              </a:rPr>
              <a:t>STRATEGY REVIEW</a:t>
            </a:r>
            <a:endParaRPr lang="en-US" sz="1300" dirty="0">
              <a:solidFill>
                <a:srgbClr val="C00000"/>
              </a:solidFill>
            </a:endParaRPr>
          </a:p>
        </p:txBody>
      </p:sp>
      <p:sp>
        <p:nvSpPr>
          <p:cNvPr id="4" name="Text 2"/>
          <p:cNvSpPr/>
          <p:nvPr/>
        </p:nvSpPr>
        <p:spPr>
          <a:xfrm>
            <a:off x="640080" y="2103120"/>
            <a:ext cx="10515600" cy="1463040"/>
          </a:xfrm>
          <a:prstGeom prst="rect">
            <a:avLst/>
          </a:prstGeom>
          <a:noFill/>
          <a:ln/>
        </p:spPr>
        <p:txBody>
          <a:bodyPr wrap="square" rtlCol="0" anchor="t"/>
          <a:lstStyle/>
          <a:p>
            <a:pPr marL="0" indent="0">
              <a:buNone/>
            </a:pPr>
            <a:r>
              <a:rPr lang="en-US" sz="3800" b="1" dirty="0">
                <a:solidFill>
                  <a:srgbClr val="FFFFFF"/>
                </a:solidFill>
                <a:latin typeface="Calibri" pitchFamily="34" charset="0"/>
                <a:ea typeface="Calibri" pitchFamily="34" charset="-122"/>
                <a:cs typeface="Calibri" pitchFamily="34" charset="-120"/>
              </a:rPr>
              <a:t>Tesco: Pricing, Profitability</a:t>
            </a:r>
            <a:endParaRPr lang="en-US" sz="3800" dirty="0"/>
          </a:p>
          <a:p>
            <a:pPr marL="0" indent="0">
              <a:buNone/>
            </a:pPr>
            <a:r>
              <a:rPr lang="en-US" sz="3800" b="1" dirty="0">
                <a:solidFill>
                  <a:srgbClr val="FFFFFF"/>
                </a:solidFill>
                <a:latin typeface="Calibri" pitchFamily="34" charset="0"/>
                <a:ea typeface="Calibri" pitchFamily="34" charset="-122"/>
                <a:cs typeface="Calibri" pitchFamily="34" charset="-120"/>
              </a:rPr>
              <a:t>&amp; Competitive Strategy</a:t>
            </a:r>
            <a:endParaRPr lang="en-US" sz="3800" dirty="0"/>
          </a:p>
        </p:txBody>
      </p:sp>
      <p:sp>
        <p:nvSpPr>
          <p:cNvPr id="5" name="Text 3"/>
          <p:cNvSpPr/>
          <p:nvPr/>
        </p:nvSpPr>
        <p:spPr>
          <a:xfrm>
            <a:off x="640080" y="3794760"/>
            <a:ext cx="10058400" cy="457200"/>
          </a:xfrm>
          <a:prstGeom prst="rect">
            <a:avLst/>
          </a:prstGeom>
          <a:noFill/>
          <a:ln/>
        </p:spPr>
        <p:txBody>
          <a:bodyPr wrap="square" rtlCol="0" anchor="ctr"/>
          <a:lstStyle/>
          <a:p>
            <a:pPr marL="0" indent="0">
              <a:buNone/>
            </a:pPr>
            <a:r>
              <a:rPr lang="en-US" sz="1800" dirty="0">
                <a:solidFill>
                  <a:srgbClr val="C00000"/>
                </a:solidFill>
                <a:latin typeface="Calibri" pitchFamily="34" charset="0"/>
                <a:ea typeface="Calibri" pitchFamily="34" charset="-122"/>
                <a:cs typeface="Calibri" pitchFamily="34" charset="-120"/>
              </a:rPr>
              <a:t>How can Tesco remain price-competitive while protecting sustainable profits?</a:t>
            </a:r>
            <a:endParaRPr lang="en-US" sz="1800" dirty="0">
              <a:solidFill>
                <a:srgbClr val="C00000"/>
              </a:solidFill>
            </a:endParaRPr>
          </a:p>
        </p:txBody>
      </p:sp>
      <p:sp>
        <p:nvSpPr>
          <p:cNvPr id="6" name="Shape 4"/>
          <p:cNvSpPr/>
          <p:nvPr/>
        </p:nvSpPr>
        <p:spPr>
          <a:xfrm>
            <a:off x="731520" y="4434840"/>
            <a:ext cx="3657600" cy="0"/>
          </a:xfrm>
          <a:prstGeom prst="line">
            <a:avLst/>
          </a:prstGeom>
          <a:noFill/>
          <a:ln w="19050">
            <a:solidFill>
              <a:srgbClr val="C00000"/>
            </a:solidFill>
            <a:prstDash val="solid"/>
          </a:ln>
        </p:spPr>
        <p:txBody>
          <a:bodyPr/>
          <a:lstStyle/>
          <a:p>
            <a:endParaRPr/>
          </a:p>
        </p:txBody>
      </p:sp>
      <p:sp>
        <p:nvSpPr>
          <p:cNvPr id="7" name="Text 5"/>
          <p:cNvSpPr/>
          <p:nvPr/>
        </p:nvSpPr>
        <p:spPr>
          <a:xfrm>
            <a:off x="640080" y="6035040"/>
            <a:ext cx="5486400" cy="274320"/>
          </a:xfrm>
          <a:prstGeom prst="rect">
            <a:avLst/>
          </a:prstGeom>
          <a:noFill/>
          <a:ln/>
        </p:spPr>
        <p:txBody>
          <a:bodyPr wrap="square" rtlCol="0" anchor="ctr"/>
          <a:lstStyle/>
          <a:p>
            <a:pPr marL="0" indent="0">
              <a:buNone/>
            </a:pPr>
            <a:r>
              <a:rPr lang="en-US" sz="1300" dirty="0">
                <a:solidFill>
                  <a:srgbClr val="9CA3AF"/>
                </a:solidFill>
                <a:latin typeface="Calibri" pitchFamily="34" charset="0"/>
                <a:ea typeface="Calibri" pitchFamily="34" charset="-122"/>
                <a:cs typeface="Calibri" pitchFamily="34" charset="-120"/>
              </a:rPr>
              <a:t>CM Sanjai Kanna CM                                                                           October 2026</a:t>
            </a:r>
            <a:endParaRPr lang="en-US" sz="1300" dirty="0"/>
          </a:p>
        </p:txBody>
      </p:sp>
      <p:pic>
        <p:nvPicPr>
          <p:cNvPr id="10" name="Picture 9">
            <a:extLst>
              <a:ext uri="{FF2B5EF4-FFF2-40B4-BE49-F238E27FC236}">
                <a16:creationId xmlns:a16="http://schemas.microsoft.com/office/drawing/2014/main" id="{2A10D587-FA04-17B9-8F0B-9377F1DCD21B}"/>
              </a:ext>
            </a:extLst>
          </p:cNvPr>
          <p:cNvPicPr>
            <a:picLocks noChangeAspect="1"/>
          </p:cNvPicPr>
          <p:nvPr/>
        </p:nvPicPr>
        <p:blipFill>
          <a:blip r:embed="rId3"/>
          <a:stretch>
            <a:fillRect/>
          </a:stretch>
        </p:blipFill>
        <p:spPr>
          <a:xfrm>
            <a:off x="8093676" y="7620"/>
            <a:ext cx="4098324" cy="2095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7" name="Shape 8">
            <a:extLst>
              <a:ext uri="{FF2B5EF4-FFF2-40B4-BE49-F238E27FC236}">
                <a16:creationId xmlns:a16="http://schemas.microsoft.com/office/drawing/2014/main" id="{6FCF314F-CD30-D64A-E385-2C318B0ED9F1}"/>
              </a:ext>
            </a:extLst>
          </p:cNvPr>
          <p:cNvSpPr/>
          <p:nvPr/>
        </p:nvSpPr>
        <p:spPr>
          <a:xfrm>
            <a:off x="457200" y="4335233"/>
            <a:ext cx="2743200" cy="982003"/>
          </a:xfrm>
          <a:prstGeom prst="roundRect">
            <a:avLst>
              <a:gd name="adj" fmla="val 2667"/>
            </a:avLst>
          </a:prstGeom>
          <a:solidFill>
            <a:srgbClr val="F8F7F4"/>
          </a:solidFill>
          <a:ln/>
        </p:spPr>
        <p:txBody>
          <a:bodyPr/>
          <a:lstStyle/>
          <a:p>
            <a:endParaRPr/>
          </a:p>
        </p:txBody>
      </p:sp>
      <p:pic>
        <p:nvPicPr>
          <p:cNvPr id="23" name="Picture 22">
            <a:extLst>
              <a:ext uri="{FF2B5EF4-FFF2-40B4-BE49-F238E27FC236}">
                <a16:creationId xmlns:a16="http://schemas.microsoft.com/office/drawing/2014/main" id="{541D6EE0-63FC-C6AB-AEA0-5E2F402CCDB1}"/>
              </a:ext>
            </a:extLst>
          </p:cNvPr>
          <p:cNvPicPr>
            <a:picLocks noChangeAspect="1"/>
          </p:cNvPicPr>
          <p:nvPr/>
        </p:nvPicPr>
        <p:blipFill>
          <a:blip r:embed="rId3"/>
          <a:stretch>
            <a:fillRect/>
          </a:stretch>
        </p:blipFill>
        <p:spPr>
          <a:xfrm>
            <a:off x="496528" y="2445043"/>
            <a:ext cx="2731893" cy="1718679"/>
          </a:xfrm>
          <a:prstGeom prst="rect">
            <a:avLst/>
          </a:prstGeom>
        </p:spPr>
      </p:pic>
      <p:sp>
        <p:nvSpPr>
          <p:cNvPr id="3" name="Text 1"/>
          <p:cNvSpPr/>
          <p:nvPr/>
        </p:nvSpPr>
        <p:spPr>
          <a:xfrm>
            <a:off x="10515600" y="6537960"/>
            <a:ext cx="1371600" cy="228600"/>
          </a:xfrm>
          <a:prstGeom prst="rect">
            <a:avLst/>
          </a:prstGeom>
          <a:noFill/>
          <a:ln/>
        </p:spPr>
        <p:txBody>
          <a:bodyPr wrap="square" rtlCol="0" anchor="ctr"/>
          <a:lstStyle/>
          <a:p>
            <a:pPr marL="0" indent="0" algn="r">
              <a:buNone/>
            </a:pPr>
            <a:r>
              <a:rPr sz="900">
                <a:solidFill>
                  <a:srgbClr val="6B7280"/>
                </a:solidFill>
                <a:latin typeface="Calibri"/>
              </a:rPr>
              <a:t>2 | 12</a:t>
            </a:r>
            <a:endParaRPr lang="en-US" sz="1100" dirty="0"/>
          </a:p>
        </p:txBody>
      </p:sp>
      <p:sp>
        <p:nvSpPr>
          <p:cNvPr id="4" name="Text 2"/>
          <p:cNvSpPr/>
          <p:nvPr/>
        </p:nvSpPr>
        <p:spPr>
          <a:xfrm>
            <a:off x="457200" y="548640"/>
            <a:ext cx="10972800" cy="457200"/>
          </a:xfrm>
          <a:prstGeom prst="rect">
            <a:avLst/>
          </a:prstGeom>
          <a:noFill/>
          <a:ln/>
        </p:spPr>
        <p:txBody>
          <a:bodyPr wrap="square" rtlCol="0" anchor="ctr"/>
          <a:lstStyle/>
          <a:p>
            <a:pPr marL="0" indent="0">
              <a:buNone/>
            </a:pPr>
            <a:r>
              <a:rPr lang="en-US" sz="2800" b="1" dirty="0">
                <a:solidFill>
                  <a:srgbClr val="0B1F3A"/>
                </a:solidFill>
                <a:latin typeface="Calibri" pitchFamily="34" charset="0"/>
                <a:ea typeface="Calibri" pitchFamily="34" charset="-122"/>
                <a:cs typeface="Calibri" pitchFamily="34" charset="-120"/>
              </a:rPr>
              <a:t>Tesco at a glance</a:t>
            </a:r>
            <a:endParaRPr lang="en-US" sz="2800" dirty="0"/>
          </a:p>
        </p:txBody>
      </p:sp>
      <p:sp>
        <p:nvSpPr>
          <p:cNvPr id="5" name="Text 3"/>
          <p:cNvSpPr/>
          <p:nvPr/>
        </p:nvSpPr>
        <p:spPr>
          <a:xfrm>
            <a:off x="457200" y="1143000"/>
            <a:ext cx="11155680" cy="502920"/>
          </a:xfrm>
          <a:prstGeom prst="rect">
            <a:avLst/>
          </a:prstGeom>
          <a:noFill/>
          <a:ln/>
        </p:spPr>
        <p:txBody>
          <a:bodyPr wrap="square" rtlCol="0" anchor="ctr"/>
          <a:lstStyle/>
          <a:p>
            <a:pPr marL="0" indent="0">
              <a:buNone/>
            </a:pPr>
            <a:r>
              <a:rPr lang="en-US" sz="1500" dirty="0">
                <a:solidFill>
                  <a:srgbClr val="1F2937"/>
                </a:solidFill>
                <a:latin typeface="Calibri" pitchFamily="34" charset="0"/>
                <a:ea typeface="Calibri" pitchFamily="34" charset="-122"/>
                <a:cs typeface="Calibri" pitchFamily="34" charset="-120"/>
              </a:rPr>
              <a:t>Tesco is a UK grocery retailer operating across large stores, convenience, online and wholesale. This analysis focuses on how pricing choices affect customer value and profitability.</a:t>
            </a:r>
            <a:endParaRPr lang="en-US" sz="1500" dirty="0"/>
          </a:p>
        </p:txBody>
      </p:sp>
      <p:sp>
        <p:nvSpPr>
          <p:cNvPr id="7" name="Shape 5"/>
          <p:cNvSpPr/>
          <p:nvPr/>
        </p:nvSpPr>
        <p:spPr>
          <a:xfrm>
            <a:off x="429179" y="4298657"/>
            <a:ext cx="2743200" cy="73152"/>
          </a:xfrm>
          <a:prstGeom prst="rect">
            <a:avLst/>
          </a:prstGeom>
          <a:solidFill>
            <a:srgbClr val="C9A227"/>
          </a:solidFill>
          <a:ln/>
        </p:spPr>
        <p:txBody>
          <a:bodyPr/>
          <a:lstStyle/>
          <a:p>
            <a:endParaRPr/>
          </a:p>
        </p:txBody>
      </p:sp>
      <p:sp>
        <p:nvSpPr>
          <p:cNvPr id="8" name="Text 6"/>
          <p:cNvSpPr/>
          <p:nvPr/>
        </p:nvSpPr>
        <p:spPr>
          <a:xfrm>
            <a:off x="350520" y="1851660"/>
            <a:ext cx="2377440" cy="411480"/>
          </a:xfrm>
          <a:prstGeom prst="rect">
            <a:avLst/>
          </a:prstGeom>
          <a:noFill/>
          <a:ln/>
        </p:spPr>
        <p:txBody>
          <a:bodyPr wrap="square"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Retail stores</a:t>
            </a:r>
            <a:endParaRPr lang="en-US" sz="1600" dirty="0"/>
          </a:p>
        </p:txBody>
      </p:sp>
      <p:sp>
        <p:nvSpPr>
          <p:cNvPr id="9" name="Text 7"/>
          <p:cNvSpPr/>
          <p:nvPr/>
        </p:nvSpPr>
        <p:spPr>
          <a:xfrm>
            <a:off x="542248" y="4147599"/>
            <a:ext cx="2686173" cy="1357270"/>
          </a:xfrm>
          <a:prstGeom prst="rect">
            <a:avLst/>
          </a:prstGeom>
          <a:noFill/>
          <a:ln/>
        </p:spPr>
        <p:txBody>
          <a:bodyPr wrap="square" rtlCol="0" anchor="ctr"/>
          <a:lstStyle/>
          <a:p>
            <a:pPr marL="0" indent="0">
              <a:buNone/>
            </a:pPr>
            <a:r>
              <a:rPr lang="en-US" sz="1400" dirty="0">
                <a:solidFill>
                  <a:srgbClr val="003300"/>
                </a:solidFill>
                <a:latin typeface="Calibri" pitchFamily="34" charset="0"/>
                <a:ea typeface="Calibri" pitchFamily="34" charset="-122"/>
                <a:cs typeface="Calibri" pitchFamily="34" charset="-120"/>
              </a:rPr>
              <a:t>Large stores and convenience formats serve different shopping missions.</a:t>
            </a:r>
            <a:endParaRPr lang="en-US" sz="1400" dirty="0">
              <a:solidFill>
                <a:srgbClr val="003300"/>
              </a:solidFill>
            </a:endParaRPr>
          </a:p>
        </p:txBody>
      </p:sp>
      <p:sp>
        <p:nvSpPr>
          <p:cNvPr id="10" name="Shape 8"/>
          <p:cNvSpPr/>
          <p:nvPr/>
        </p:nvSpPr>
        <p:spPr>
          <a:xfrm>
            <a:off x="3365581" y="4371808"/>
            <a:ext cx="2743200" cy="917945"/>
          </a:xfrm>
          <a:prstGeom prst="roundRect">
            <a:avLst>
              <a:gd name="adj" fmla="val 2667"/>
            </a:avLst>
          </a:prstGeom>
          <a:solidFill>
            <a:srgbClr val="F8F7F4"/>
          </a:solidFill>
          <a:ln/>
        </p:spPr>
        <p:txBody>
          <a:bodyPr/>
          <a:lstStyle/>
          <a:p>
            <a:endParaRPr/>
          </a:p>
        </p:txBody>
      </p:sp>
      <p:sp>
        <p:nvSpPr>
          <p:cNvPr id="11" name="Shape 9"/>
          <p:cNvSpPr/>
          <p:nvPr/>
        </p:nvSpPr>
        <p:spPr>
          <a:xfrm>
            <a:off x="3367418" y="4286120"/>
            <a:ext cx="2743200" cy="73152"/>
          </a:xfrm>
          <a:prstGeom prst="rect">
            <a:avLst/>
          </a:prstGeom>
          <a:solidFill>
            <a:srgbClr val="C9A227"/>
          </a:solidFill>
          <a:ln/>
        </p:spPr>
        <p:txBody>
          <a:bodyPr/>
          <a:lstStyle/>
          <a:p>
            <a:endParaRPr/>
          </a:p>
        </p:txBody>
      </p:sp>
      <p:sp>
        <p:nvSpPr>
          <p:cNvPr id="12" name="Text 10"/>
          <p:cNvSpPr/>
          <p:nvPr/>
        </p:nvSpPr>
        <p:spPr>
          <a:xfrm>
            <a:off x="3379347" y="1920240"/>
            <a:ext cx="2377440" cy="411480"/>
          </a:xfrm>
          <a:prstGeom prst="rect">
            <a:avLst/>
          </a:prstGeom>
          <a:noFill/>
          <a:ln/>
        </p:spPr>
        <p:txBody>
          <a:bodyPr wrap="square"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Online</a:t>
            </a:r>
            <a:endParaRPr lang="en-US" sz="1600" dirty="0"/>
          </a:p>
        </p:txBody>
      </p:sp>
      <p:sp>
        <p:nvSpPr>
          <p:cNvPr id="13" name="Text 11"/>
          <p:cNvSpPr/>
          <p:nvPr/>
        </p:nvSpPr>
        <p:spPr>
          <a:xfrm>
            <a:off x="3570584" y="3820394"/>
            <a:ext cx="2377440" cy="2011680"/>
          </a:xfrm>
          <a:prstGeom prst="rect">
            <a:avLst/>
          </a:prstGeom>
          <a:noFill/>
          <a:ln/>
        </p:spPr>
        <p:txBody>
          <a:bodyPr wrap="square" rtlCol="0" anchor="ctr"/>
          <a:lstStyle/>
          <a:p>
            <a:pPr marL="0" indent="0">
              <a:buNone/>
            </a:pPr>
            <a:r>
              <a:rPr lang="en-US" sz="1400" dirty="0">
                <a:solidFill>
                  <a:srgbClr val="1F2937"/>
                </a:solidFill>
                <a:latin typeface="Calibri" pitchFamily="34" charset="0"/>
                <a:ea typeface="Calibri" pitchFamily="34" charset="-122"/>
                <a:cs typeface="Calibri" pitchFamily="34" charset="-120"/>
              </a:rPr>
              <a:t>Online grocery and rapid delivery extend convenience beyond stores.</a:t>
            </a:r>
            <a:endParaRPr lang="en-US" sz="1400" dirty="0"/>
          </a:p>
        </p:txBody>
      </p:sp>
      <p:sp>
        <p:nvSpPr>
          <p:cNvPr id="14" name="Shape 12"/>
          <p:cNvSpPr/>
          <p:nvPr/>
        </p:nvSpPr>
        <p:spPr>
          <a:xfrm>
            <a:off x="6217920" y="4371808"/>
            <a:ext cx="2743200" cy="917945"/>
          </a:xfrm>
          <a:prstGeom prst="roundRect">
            <a:avLst>
              <a:gd name="adj" fmla="val 2667"/>
            </a:avLst>
          </a:prstGeom>
          <a:solidFill>
            <a:srgbClr val="F8F7F4"/>
          </a:solidFill>
          <a:ln/>
        </p:spPr>
        <p:txBody>
          <a:bodyPr/>
          <a:lstStyle/>
          <a:p>
            <a:endParaRPr/>
          </a:p>
        </p:txBody>
      </p:sp>
      <p:sp>
        <p:nvSpPr>
          <p:cNvPr id="15" name="Shape 13"/>
          <p:cNvSpPr/>
          <p:nvPr/>
        </p:nvSpPr>
        <p:spPr>
          <a:xfrm>
            <a:off x="6204438" y="4272010"/>
            <a:ext cx="2743200" cy="73152"/>
          </a:xfrm>
          <a:prstGeom prst="rect">
            <a:avLst/>
          </a:prstGeom>
          <a:solidFill>
            <a:srgbClr val="C9A227"/>
          </a:solidFill>
          <a:ln/>
        </p:spPr>
        <p:txBody>
          <a:bodyPr/>
          <a:lstStyle/>
          <a:p>
            <a:endParaRPr/>
          </a:p>
        </p:txBody>
      </p:sp>
      <p:sp>
        <p:nvSpPr>
          <p:cNvPr id="16" name="Text 14"/>
          <p:cNvSpPr/>
          <p:nvPr/>
        </p:nvSpPr>
        <p:spPr>
          <a:xfrm>
            <a:off x="6330253" y="1918800"/>
            <a:ext cx="2377440" cy="411480"/>
          </a:xfrm>
          <a:prstGeom prst="rect">
            <a:avLst/>
          </a:prstGeom>
          <a:noFill/>
          <a:ln/>
        </p:spPr>
        <p:txBody>
          <a:bodyPr wrap="square"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Wholesale</a:t>
            </a:r>
            <a:endParaRPr lang="en-US" sz="1600" dirty="0"/>
          </a:p>
        </p:txBody>
      </p:sp>
      <p:sp>
        <p:nvSpPr>
          <p:cNvPr id="17" name="Text 15"/>
          <p:cNvSpPr/>
          <p:nvPr/>
        </p:nvSpPr>
        <p:spPr>
          <a:xfrm>
            <a:off x="6238814" y="3838207"/>
            <a:ext cx="2377440" cy="2011680"/>
          </a:xfrm>
          <a:prstGeom prst="rect">
            <a:avLst/>
          </a:prstGeom>
          <a:noFill/>
          <a:ln/>
        </p:spPr>
        <p:txBody>
          <a:bodyPr wrap="square" rtlCol="0" anchor="ctr"/>
          <a:lstStyle/>
          <a:p>
            <a:pPr marL="0" indent="0">
              <a:buNone/>
            </a:pPr>
            <a:r>
              <a:rPr lang="en-US" sz="1400" dirty="0">
                <a:solidFill>
                  <a:srgbClr val="1F2937"/>
                </a:solidFill>
                <a:latin typeface="Calibri" pitchFamily="34" charset="0"/>
                <a:ea typeface="Calibri" pitchFamily="34" charset="-122"/>
                <a:cs typeface="Calibri" pitchFamily="34" charset="-120"/>
              </a:rPr>
              <a:t>Booker serves independent retailers and food-service customers.</a:t>
            </a:r>
            <a:endParaRPr lang="en-US" sz="1400" dirty="0"/>
          </a:p>
        </p:txBody>
      </p:sp>
      <p:sp>
        <p:nvSpPr>
          <p:cNvPr id="18" name="Shape 16"/>
          <p:cNvSpPr/>
          <p:nvPr/>
        </p:nvSpPr>
        <p:spPr>
          <a:xfrm>
            <a:off x="9098280" y="4371808"/>
            <a:ext cx="2743200" cy="917945"/>
          </a:xfrm>
          <a:prstGeom prst="roundRect">
            <a:avLst>
              <a:gd name="adj" fmla="val 2667"/>
            </a:avLst>
          </a:prstGeom>
          <a:solidFill>
            <a:srgbClr val="F8F7F4"/>
          </a:solidFill>
          <a:ln/>
        </p:spPr>
        <p:txBody>
          <a:bodyPr/>
          <a:lstStyle/>
          <a:p>
            <a:endParaRPr/>
          </a:p>
        </p:txBody>
      </p:sp>
      <p:sp>
        <p:nvSpPr>
          <p:cNvPr id="19" name="Shape 17"/>
          <p:cNvSpPr/>
          <p:nvPr/>
        </p:nvSpPr>
        <p:spPr>
          <a:xfrm>
            <a:off x="9098280" y="4250576"/>
            <a:ext cx="2743200" cy="73152"/>
          </a:xfrm>
          <a:prstGeom prst="rect">
            <a:avLst/>
          </a:prstGeom>
          <a:solidFill>
            <a:srgbClr val="C9A227"/>
          </a:solidFill>
          <a:ln/>
        </p:spPr>
        <p:txBody>
          <a:bodyPr/>
          <a:lstStyle/>
          <a:p>
            <a:endParaRPr/>
          </a:p>
        </p:txBody>
      </p:sp>
      <p:sp>
        <p:nvSpPr>
          <p:cNvPr id="20" name="Text 18"/>
          <p:cNvSpPr/>
          <p:nvPr/>
        </p:nvSpPr>
        <p:spPr>
          <a:xfrm>
            <a:off x="9281160" y="1940326"/>
            <a:ext cx="2377440" cy="411480"/>
          </a:xfrm>
          <a:prstGeom prst="rect">
            <a:avLst/>
          </a:prstGeom>
          <a:noFill/>
          <a:ln/>
        </p:spPr>
        <p:txBody>
          <a:bodyPr wrap="square"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Other activities</a:t>
            </a:r>
            <a:endParaRPr lang="en-US" sz="1600" dirty="0"/>
          </a:p>
        </p:txBody>
      </p:sp>
      <p:sp>
        <p:nvSpPr>
          <p:cNvPr id="21" name="Text 19"/>
          <p:cNvSpPr/>
          <p:nvPr/>
        </p:nvSpPr>
        <p:spPr>
          <a:xfrm>
            <a:off x="9204052" y="3820394"/>
            <a:ext cx="2377440" cy="2011680"/>
          </a:xfrm>
          <a:prstGeom prst="rect">
            <a:avLst/>
          </a:prstGeom>
          <a:noFill/>
          <a:ln/>
        </p:spPr>
        <p:txBody>
          <a:bodyPr wrap="square" rtlCol="0" anchor="ctr"/>
          <a:lstStyle/>
          <a:p>
            <a:pPr marL="0" indent="0">
              <a:buNone/>
            </a:pPr>
            <a:r>
              <a:rPr lang="en-US" sz="1400" dirty="0">
                <a:solidFill>
                  <a:srgbClr val="1F2937"/>
                </a:solidFill>
                <a:latin typeface="Calibri" pitchFamily="34" charset="0"/>
                <a:ea typeface="Calibri" pitchFamily="34" charset="-122"/>
                <a:cs typeface="Calibri" pitchFamily="34" charset="-120"/>
              </a:rPr>
              <a:t>F&amp;F, retail media and other services diversify the business.</a:t>
            </a:r>
            <a:endParaRPr lang="en-US" sz="1400" dirty="0"/>
          </a:p>
        </p:txBody>
      </p:sp>
      <p:pic>
        <p:nvPicPr>
          <p:cNvPr id="28" name="Picture 27">
            <a:extLst>
              <a:ext uri="{FF2B5EF4-FFF2-40B4-BE49-F238E27FC236}">
                <a16:creationId xmlns:a16="http://schemas.microsoft.com/office/drawing/2014/main" id="{C9B838D5-1A58-DE23-DC67-E657452104EB}"/>
              </a:ext>
            </a:extLst>
          </p:cNvPr>
          <p:cNvPicPr>
            <a:picLocks noChangeAspect="1"/>
          </p:cNvPicPr>
          <p:nvPr/>
        </p:nvPicPr>
        <p:blipFill>
          <a:blip r:embed="rId4"/>
          <a:stretch>
            <a:fillRect/>
          </a:stretch>
        </p:blipFill>
        <p:spPr>
          <a:xfrm>
            <a:off x="3411301" y="2453104"/>
            <a:ext cx="2699317" cy="1702556"/>
          </a:xfrm>
          <a:prstGeom prst="rect">
            <a:avLst/>
          </a:prstGeom>
        </p:spPr>
      </p:pic>
      <p:pic>
        <p:nvPicPr>
          <p:cNvPr id="30" name="Picture 29">
            <a:extLst>
              <a:ext uri="{FF2B5EF4-FFF2-40B4-BE49-F238E27FC236}">
                <a16:creationId xmlns:a16="http://schemas.microsoft.com/office/drawing/2014/main" id="{803558EE-5536-BFC7-3468-90B37AC1BD10}"/>
              </a:ext>
            </a:extLst>
          </p:cNvPr>
          <p:cNvPicPr>
            <a:picLocks noChangeAspect="1"/>
          </p:cNvPicPr>
          <p:nvPr/>
        </p:nvPicPr>
        <p:blipFill>
          <a:blip r:embed="rId5"/>
          <a:stretch>
            <a:fillRect/>
          </a:stretch>
        </p:blipFill>
        <p:spPr>
          <a:xfrm>
            <a:off x="9098280" y="2453104"/>
            <a:ext cx="2769182" cy="1732365"/>
          </a:xfrm>
          <a:prstGeom prst="rect">
            <a:avLst/>
          </a:prstGeom>
        </p:spPr>
      </p:pic>
      <p:pic>
        <p:nvPicPr>
          <p:cNvPr id="31" name="Picture 30">
            <a:extLst>
              <a:ext uri="{FF2B5EF4-FFF2-40B4-BE49-F238E27FC236}">
                <a16:creationId xmlns:a16="http://schemas.microsoft.com/office/drawing/2014/main" id="{F0353E98-A06C-5E76-E92E-0AEDD9460FB5}"/>
              </a:ext>
            </a:extLst>
          </p:cNvPr>
          <p:cNvPicPr>
            <a:picLocks noChangeAspect="1"/>
          </p:cNvPicPr>
          <p:nvPr/>
        </p:nvPicPr>
        <p:blipFill>
          <a:blip r:embed="rId6"/>
          <a:stretch>
            <a:fillRect/>
          </a:stretch>
        </p:blipFill>
        <p:spPr>
          <a:xfrm>
            <a:off x="6194710" y="2453104"/>
            <a:ext cx="2782104" cy="171867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0515600" y="6537960"/>
            <a:ext cx="1371600" cy="228600"/>
          </a:xfrm>
          <a:prstGeom prst="rect">
            <a:avLst/>
          </a:prstGeom>
          <a:noFill/>
          <a:ln/>
        </p:spPr>
        <p:txBody>
          <a:bodyPr wrap="square" rtlCol="0" anchor="ctr"/>
          <a:lstStyle/>
          <a:p>
            <a:pPr marL="0" indent="0" algn="r">
              <a:buNone/>
            </a:pPr>
            <a:r>
              <a:rPr sz="900">
                <a:solidFill>
                  <a:srgbClr val="6B7280"/>
                </a:solidFill>
                <a:latin typeface="Calibri"/>
              </a:rPr>
              <a:t>3 | 12</a:t>
            </a:r>
            <a:endParaRPr lang="en-US" sz="1100" dirty="0"/>
          </a:p>
        </p:txBody>
      </p:sp>
      <p:sp>
        <p:nvSpPr>
          <p:cNvPr id="4" name="Text 2"/>
          <p:cNvSpPr/>
          <p:nvPr/>
        </p:nvSpPr>
        <p:spPr>
          <a:xfrm>
            <a:off x="457200" y="548640"/>
            <a:ext cx="10972800" cy="457200"/>
          </a:xfrm>
          <a:prstGeom prst="rect">
            <a:avLst/>
          </a:prstGeom>
          <a:noFill/>
          <a:ln/>
        </p:spPr>
        <p:txBody>
          <a:bodyPr wrap="square" rtlCol="0" anchor="ctr"/>
          <a:lstStyle/>
          <a:p>
            <a:pPr marL="0" indent="0">
              <a:buNone/>
            </a:pPr>
            <a:r>
              <a:rPr lang="en-US" sz="2800" b="1" dirty="0">
                <a:solidFill>
                  <a:srgbClr val="0B1F3A"/>
                </a:solidFill>
                <a:latin typeface="Calibri" pitchFamily="34" charset="0"/>
                <a:ea typeface="Calibri" pitchFamily="34" charset="-122"/>
                <a:cs typeface="Calibri" pitchFamily="34" charset="-120"/>
              </a:rPr>
              <a:t>The competitive pressure on Tesco</a:t>
            </a:r>
            <a:endParaRPr lang="en-US" sz="2800" dirty="0"/>
          </a:p>
        </p:txBody>
      </p:sp>
      <p:sp>
        <p:nvSpPr>
          <p:cNvPr id="5" name="Shape 3"/>
          <p:cNvSpPr/>
          <p:nvPr/>
        </p:nvSpPr>
        <p:spPr>
          <a:xfrm>
            <a:off x="3087328" y="1188720"/>
            <a:ext cx="8616991" cy="1143000"/>
          </a:xfrm>
          <a:prstGeom prst="roundRect">
            <a:avLst>
              <a:gd name="adj" fmla="val 4800"/>
            </a:avLst>
          </a:prstGeom>
          <a:solidFill>
            <a:srgbClr val="F8F7F4"/>
          </a:solidFill>
          <a:ln/>
        </p:spPr>
        <p:txBody>
          <a:bodyPr/>
          <a:lstStyle/>
          <a:p>
            <a:endParaRPr/>
          </a:p>
        </p:txBody>
      </p:sp>
      <p:sp>
        <p:nvSpPr>
          <p:cNvPr id="7" name="Text 5"/>
          <p:cNvSpPr/>
          <p:nvPr/>
        </p:nvSpPr>
        <p:spPr>
          <a:xfrm>
            <a:off x="3087328" y="1279177"/>
            <a:ext cx="2743200" cy="36576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Aldi and Lidl</a:t>
            </a:r>
            <a:endParaRPr lang="en-US" sz="1300" dirty="0"/>
          </a:p>
        </p:txBody>
      </p:sp>
      <p:sp>
        <p:nvSpPr>
          <p:cNvPr id="8" name="Text 6"/>
          <p:cNvSpPr/>
          <p:nvPr/>
        </p:nvSpPr>
        <p:spPr>
          <a:xfrm>
            <a:off x="3657600" y="1463040"/>
            <a:ext cx="7772400" cy="640080"/>
          </a:xfrm>
          <a:prstGeom prst="rect">
            <a:avLst/>
          </a:prstGeom>
          <a:noFill/>
          <a:ln/>
        </p:spPr>
        <p:txBody>
          <a:bodyPr wrap="square" rtlCol="0" anchor="ctr"/>
          <a:lstStyle/>
          <a:p>
            <a:pPr marL="0" indent="0">
              <a:buNone/>
            </a:pPr>
            <a:r>
              <a:rPr lang="en-US" sz="1400" dirty="0">
                <a:solidFill>
                  <a:srgbClr val="1F2937"/>
                </a:solidFill>
                <a:latin typeface="Calibri" pitchFamily="34" charset="0"/>
                <a:ea typeface="Calibri" pitchFamily="34" charset="-122"/>
                <a:cs typeface="Calibri" pitchFamily="34" charset="-120"/>
              </a:rPr>
              <a:t>Discount retailers compete through sharp everyday prices and focused ranges. A like-for-like basket comparison is needed to quantify Tesco’s price gap.</a:t>
            </a:r>
            <a:endParaRPr lang="en-US" sz="1400" dirty="0"/>
          </a:p>
        </p:txBody>
      </p:sp>
      <p:sp>
        <p:nvSpPr>
          <p:cNvPr id="9" name="Shape 7"/>
          <p:cNvSpPr/>
          <p:nvPr/>
        </p:nvSpPr>
        <p:spPr>
          <a:xfrm>
            <a:off x="3087328" y="2423160"/>
            <a:ext cx="8616992" cy="1051560"/>
          </a:xfrm>
          <a:prstGeom prst="roundRect">
            <a:avLst>
              <a:gd name="adj" fmla="val 4800"/>
            </a:avLst>
          </a:prstGeom>
          <a:solidFill>
            <a:srgbClr val="E8EEF4"/>
          </a:solidFill>
          <a:ln/>
        </p:spPr>
        <p:txBody>
          <a:bodyPr/>
          <a:lstStyle/>
          <a:p>
            <a:endParaRPr/>
          </a:p>
        </p:txBody>
      </p:sp>
      <p:sp>
        <p:nvSpPr>
          <p:cNvPr id="11" name="Text 9"/>
          <p:cNvSpPr/>
          <p:nvPr/>
        </p:nvSpPr>
        <p:spPr>
          <a:xfrm>
            <a:off x="3087328" y="2442087"/>
            <a:ext cx="2743200" cy="36576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Sainsbury’s</a:t>
            </a:r>
            <a:endParaRPr lang="en-US" sz="1300" dirty="0"/>
          </a:p>
        </p:txBody>
      </p:sp>
      <p:sp>
        <p:nvSpPr>
          <p:cNvPr id="12" name="Text 10"/>
          <p:cNvSpPr/>
          <p:nvPr/>
        </p:nvSpPr>
        <p:spPr>
          <a:xfrm>
            <a:off x="3657600" y="2606040"/>
            <a:ext cx="7772400" cy="640080"/>
          </a:xfrm>
          <a:prstGeom prst="rect">
            <a:avLst/>
          </a:prstGeom>
          <a:noFill/>
          <a:ln/>
        </p:spPr>
        <p:txBody>
          <a:bodyPr wrap="square" rtlCol="0" anchor="ctr"/>
          <a:lstStyle/>
          <a:p>
            <a:pPr marL="0" indent="0">
              <a:buNone/>
            </a:pPr>
            <a:r>
              <a:rPr lang="en-US" sz="1400" dirty="0">
                <a:solidFill>
                  <a:srgbClr val="1F2937"/>
                </a:solidFill>
                <a:latin typeface="Calibri" pitchFamily="34" charset="0"/>
                <a:ea typeface="Calibri" pitchFamily="34" charset="-122"/>
                <a:cs typeface="Calibri" pitchFamily="34" charset="-120"/>
              </a:rPr>
              <a:t>Competes across value, quality and loyalty through its own price and promotion strategy. Compare matched products and dates before drawing price conclusions.</a:t>
            </a:r>
            <a:endParaRPr lang="en-US" sz="1400" dirty="0"/>
          </a:p>
        </p:txBody>
      </p:sp>
      <p:sp>
        <p:nvSpPr>
          <p:cNvPr id="13" name="Shape 11"/>
          <p:cNvSpPr/>
          <p:nvPr/>
        </p:nvSpPr>
        <p:spPr>
          <a:xfrm>
            <a:off x="3008670" y="3657600"/>
            <a:ext cx="8695649" cy="1097280"/>
          </a:xfrm>
          <a:prstGeom prst="roundRect">
            <a:avLst>
              <a:gd name="adj" fmla="val 4800"/>
            </a:avLst>
          </a:prstGeom>
          <a:solidFill>
            <a:srgbClr val="F8F7F4"/>
          </a:solidFill>
          <a:ln/>
        </p:spPr>
        <p:txBody>
          <a:bodyPr/>
          <a:lstStyle/>
          <a:p>
            <a:endParaRPr/>
          </a:p>
        </p:txBody>
      </p:sp>
      <p:sp>
        <p:nvSpPr>
          <p:cNvPr id="15" name="Text 13"/>
          <p:cNvSpPr/>
          <p:nvPr/>
        </p:nvSpPr>
        <p:spPr>
          <a:xfrm>
            <a:off x="3087328" y="3747072"/>
            <a:ext cx="2743200" cy="36576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Asda</a:t>
            </a:r>
            <a:endParaRPr lang="en-US" sz="1300" dirty="0"/>
          </a:p>
        </p:txBody>
      </p:sp>
      <p:sp>
        <p:nvSpPr>
          <p:cNvPr id="16" name="Text 14"/>
          <p:cNvSpPr/>
          <p:nvPr/>
        </p:nvSpPr>
        <p:spPr>
          <a:xfrm>
            <a:off x="3657600" y="3931920"/>
            <a:ext cx="7772400" cy="640080"/>
          </a:xfrm>
          <a:prstGeom prst="rect">
            <a:avLst/>
          </a:prstGeom>
          <a:noFill/>
          <a:ln/>
        </p:spPr>
        <p:txBody>
          <a:bodyPr wrap="square" rtlCol="0" anchor="ctr"/>
          <a:lstStyle/>
          <a:p>
            <a:pPr marL="0" indent="0">
              <a:buNone/>
            </a:pPr>
            <a:r>
              <a:rPr lang="en-US" sz="1400" dirty="0">
                <a:solidFill>
                  <a:srgbClr val="1F2937"/>
                </a:solidFill>
                <a:latin typeface="Calibri" pitchFamily="34" charset="0"/>
                <a:ea typeface="Calibri" pitchFamily="34" charset="-122"/>
                <a:cs typeface="Calibri" pitchFamily="34" charset="-120"/>
              </a:rPr>
              <a:t>Competes on grocery price and family-shop value. Its relative position should be tested using a consistent basket, pack size and promotion basis.</a:t>
            </a:r>
            <a:endParaRPr lang="en-US" sz="1400" dirty="0"/>
          </a:p>
        </p:txBody>
      </p:sp>
      <p:sp>
        <p:nvSpPr>
          <p:cNvPr id="17" name="Shape 15"/>
          <p:cNvSpPr/>
          <p:nvPr/>
        </p:nvSpPr>
        <p:spPr>
          <a:xfrm>
            <a:off x="3077494" y="4892040"/>
            <a:ext cx="8626825" cy="1143000"/>
          </a:xfrm>
          <a:prstGeom prst="roundRect">
            <a:avLst>
              <a:gd name="adj" fmla="val 4800"/>
            </a:avLst>
          </a:prstGeom>
          <a:solidFill>
            <a:srgbClr val="E8EEF4"/>
          </a:solidFill>
          <a:ln/>
        </p:spPr>
        <p:txBody>
          <a:bodyPr/>
          <a:lstStyle/>
          <a:p>
            <a:endParaRPr/>
          </a:p>
        </p:txBody>
      </p:sp>
      <p:sp>
        <p:nvSpPr>
          <p:cNvPr id="18" name="Text 16"/>
          <p:cNvSpPr/>
          <p:nvPr/>
        </p:nvSpPr>
        <p:spPr>
          <a:xfrm>
            <a:off x="457200" y="5091635"/>
            <a:ext cx="2743200" cy="409760"/>
          </a:xfrm>
          <a:prstGeom prst="rect">
            <a:avLst/>
          </a:prstGeom>
          <a:noFill/>
          <a:ln/>
        </p:spPr>
        <p:txBody>
          <a:bodyPr wrap="square" rtlCol="0" anchor="ctr"/>
          <a:lstStyle/>
          <a:p>
            <a:pPr marL="0" indent="0">
              <a:buNone/>
            </a:pPr>
            <a:r>
              <a:rPr lang="en-US" sz="2400" b="1" dirty="0">
                <a:solidFill>
                  <a:srgbClr val="0B1F3A"/>
                </a:solidFill>
                <a:latin typeface="Calibri" pitchFamily="34" charset="0"/>
                <a:ea typeface="Calibri" pitchFamily="34" charset="-122"/>
                <a:cs typeface="Calibri" pitchFamily="34" charset="-120"/>
              </a:rPr>
              <a:t>Online grocery</a:t>
            </a:r>
            <a:endParaRPr lang="en-US" sz="2400" dirty="0"/>
          </a:p>
        </p:txBody>
      </p:sp>
      <p:sp>
        <p:nvSpPr>
          <p:cNvPr id="19" name="Text 17"/>
          <p:cNvSpPr/>
          <p:nvPr/>
        </p:nvSpPr>
        <p:spPr>
          <a:xfrm>
            <a:off x="3077495" y="4912688"/>
            <a:ext cx="2743200" cy="36576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CVS</a:t>
            </a:r>
            <a:endParaRPr lang="en-US" sz="1300" dirty="0"/>
          </a:p>
        </p:txBody>
      </p:sp>
      <p:sp>
        <p:nvSpPr>
          <p:cNvPr id="20" name="Text 18"/>
          <p:cNvSpPr/>
          <p:nvPr/>
        </p:nvSpPr>
        <p:spPr>
          <a:xfrm>
            <a:off x="3657600" y="5166360"/>
            <a:ext cx="7772400" cy="640080"/>
          </a:xfrm>
          <a:prstGeom prst="rect">
            <a:avLst/>
          </a:prstGeom>
          <a:noFill/>
          <a:ln/>
        </p:spPr>
        <p:txBody>
          <a:bodyPr wrap="square" rtlCol="0" anchor="ctr"/>
          <a:lstStyle/>
          <a:p>
            <a:pPr marL="0" indent="0">
              <a:buNone/>
            </a:pPr>
            <a:r>
              <a:rPr lang="en-US" sz="1400" dirty="0">
                <a:solidFill>
                  <a:srgbClr val="1F2937"/>
                </a:solidFill>
                <a:latin typeface="Calibri" pitchFamily="34" charset="0"/>
                <a:ea typeface="Calibri" pitchFamily="34" charset="-122"/>
                <a:cs typeface="Calibri" pitchFamily="34" charset="-120"/>
              </a:rPr>
              <a:t>Online retailers and rapid-delivery services compete on convenience as well as price. Tesco’s response includes online grocery and Whoosh.</a:t>
            </a:r>
            <a:endParaRPr lang="en-US" sz="1400" dirty="0"/>
          </a:p>
        </p:txBody>
      </p:sp>
      <p:pic>
        <p:nvPicPr>
          <p:cNvPr id="22" name="Picture 21">
            <a:extLst>
              <a:ext uri="{FF2B5EF4-FFF2-40B4-BE49-F238E27FC236}">
                <a16:creationId xmlns:a16="http://schemas.microsoft.com/office/drawing/2014/main" id="{912B6170-0747-44DA-3205-5F3B4676B071}"/>
              </a:ext>
            </a:extLst>
          </p:cNvPr>
          <p:cNvPicPr>
            <a:picLocks noChangeAspect="1"/>
          </p:cNvPicPr>
          <p:nvPr/>
        </p:nvPicPr>
        <p:blipFill>
          <a:blip r:embed="rId3"/>
          <a:stretch>
            <a:fillRect/>
          </a:stretch>
        </p:blipFill>
        <p:spPr>
          <a:xfrm>
            <a:off x="457200" y="1169794"/>
            <a:ext cx="2515481" cy="1130438"/>
          </a:xfrm>
          <a:prstGeom prst="rect">
            <a:avLst/>
          </a:prstGeom>
        </p:spPr>
      </p:pic>
      <p:pic>
        <p:nvPicPr>
          <p:cNvPr id="25" name="Picture 24">
            <a:extLst>
              <a:ext uri="{FF2B5EF4-FFF2-40B4-BE49-F238E27FC236}">
                <a16:creationId xmlns:a16="http://schemas.microsoft.com/office/drawing/2014/main" id="{0B1AA4CF-C79C-838E-8D2B-F6D48227BB2F}"/>
              </a:ext>
            </a:extLst>
          </p:cNvPr>
          <p:cNvPicPr>
            <a:picLocks noChangeAspect="1"/>
          </p:cNvPicPr>
          <p:nvPr/>
        </p:nvPicPr>
        <p:blipFill>
          <a:blip r:embed="rId4"/>
          <a:stretch>
            <a:fillRect/>
          </a:stretch>
        </p:blipFill>
        <p:spPr>
          <a:xfrm>
            <a:off x="457200" y="2451895"/>
            <a:ext cx="2515481" cy="967789"/>
          </a:xfrm>
          <a:prstGeom prst="rect">
            <a:avLst/>
          </a:prstGeom>
        </p:spPr>
      </p:pic>
      <p:pic>
        <p:nvPicPr>
          <p:cNvPr id="27" name="Picture 26">
            <a:extLst>
              <a:ext uri="{FF2B5EF4-FFF2-40B4-BE49-F238E27FC236}">
                <a16:creationId xmlns:a16="http://schemas.microsoft.com/office/drawing/2014/main" id="{092E346D-56ED-2125-466B-CC00F2FBD627}"/>
              </a:ext>
            </a:extLst>
          </p:cNvPr>
          <p:cNvPicPr>
            <a:picLocks noChangeAspect="1"/>
          </p:cNvPicPr>
          <p:nvPr/>
        </p:nvPicPr>
        <p:blipFill>
          <a:blip r:embed="rId5"/>
          <a:stretch>
            <a:fillRect/>
          </a:stretch>
        </p:blipFill>
        <p:spPr>
          <a:xfrm>
            <a:off x="78658" y="3462922"/>
            <a:ext cx="3008670" cy="138339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0515600" y="6537960"/>
            <a:ext cx="1371600" cy="228600"/>
          </a:xfrm>
          <a:prstGeom prst="rect">
            <a:avLst/>
          </a:prstGeom>
          <a:noFill/>
          <a:ln/>
        </p:spPr>
        <p:txBody>
          <a:bodyPr wrap="square" rtlCol="0" anchor="ctr"/>
          <a:lstStyle/>
          <a:p>
            <a:pPr marL="0" indent="0" algn="r">
              <a:buNone/>
            </a:pPr>
            <a:r>
              <a:rPr sz="900">
                <a:solidFill>
                  <a:srgbClr val="6B7280"/>
                </a:solidFill>
                <a:latin typeface="Calibri"/>
              </a:rPr>
              <a:t>4 | 12</a:t>
            </a:r>
            <a:endParaRPr lang="en-US" sz="1100" dirty="0"/>
          </a:p>
        </p:txBody>
      </p:sp>
      <p:sp>
        <p:nvSpPr>
          <p:cNvPr id="4" name="Text 2"/>
          <p:cNvSpPr/>
          <p:nvPr/>
        </p:nvSpPr>
        <p:spPr>
          <a:xfrm>
            <a:off x="457200" y="548640"/>
            <a:ext cx="10972800" cy="457200"/>
          </a:xfrm>
          <a:prstGeom prst="rect">
            <a:avLst/>
          </a:prstGeom>
          <a:noFill/>
          <a:ln/>
        </p:spPr>
        <p:txBody>
          <a:bodyPr wrap="square" rtlCol="0" anchor="ctr"/>
          <a:lstStyle/>
          <a:p>
            <a:pPr marL="0" indent="0">
              <a:buNone/>
            </a:pPr>
            <a:r>
              <a:rPr lang="en-US" sz="2800" b="1" dirty="0">
                <a:solidFill>
                  <a:srgbClr val="0B1F3A"/>
                </a:solidFill>
                <a:latin typeface="Calibri" pitchFamily="34" charset="0"/>
                <a:ea typeface="Calibri" pitchFamily="34" charset="-122"/>
                <a:cs typeface="Calibri" pitchFamily="34" charset="-120"/>
              </a:rPr>
              <a:t>What problem are we trying to solve?</a:t>
            </a:r>
            <a:endParaRPr lang="en-US" sz="2800" dirty="0"/>
          </a:p>
        </p:txBody>
      </p:sp>
      <p:sp>
        <p:nvSpPr>
          <p:cNvPr id="5" name="Shape 3"/>
          <p:cNvSpPr/>
          <p:nvPr/>
        </p:nvSpPr>
        <p:spPr>
          <a:xfrm>
            <a:off x="457200" y="1371600"/>
            <a:ext cx="11247120" cy="2011680"/>
          </a:xfrm>
          <a:prstGeom prst="roundRect">
            <a:avLst>
              <a:gd name="adj" fmla="val 4545"/>
            </a:avLst>
          </a:prstGeom>
          <a:solidFill>
            <a:srgbClr val="0B1F3A"/>
          </a:solidFill>
          <a:ln/>
        </p:spPr>
        <p:txBody>
          <a:bodyPr/>
          <a:lstStyle/>
          <a:p>
            <a:endParaRPr/>
          </a:p>
        </p:txBody>
      </p:sp>
      <p:sp>
        <p:nvSpPr>
          <p:cNvPr id="6" name="Text 4"/>
          <p:cNvSpPr/>
          <p:nvPr/>
        </p:nvSpPr>
        <p:spPr>
          <a:xfrm>
            <a:off x="822960" y="1600200"/>
            <a:ext cx="10515600" cy="365760"/>
          </a:xfrm>
          <a:prstGeom prst="rect">
            <a:avLst/>
          </a:prstGeom>
          <a:noFill/>
          <a:ln/>
        </p:spPr>
        <p:txBody>
          <a:bodyPr wrap="square" rtlCol="0" anchor="ctr"/>
          <a:lstStyle/>
          <a:p>
            <a:pPr marL="0" indent="0">
              <a:buNone/>
            </a:pPr>
            <a:r>
              <a:rPr lang="en-US" sz="1400" b="1" dirty="0">
                <a:solidFill>
                  <a:srgbClr val="C9A227"/>
                </a:solidFill>
                <a:latin typeface="Calibri" pitchFamily="34" charset="0"/>
                <a:ea typeface="Calibri" pitchFamily="34" charset="-122"/>
                <a:cs typeface="Calibri" pitchFamily="34" charset="-120"/>
              </a:rPr>
              <a:t>The business problem</a:t>
            </a:r>
            <a:endParaRPr lang="en-US" sz="1400" dirty="0"/>
          </a:p>
        </p:txBody>
      </p:sp>
      <p:sp>
        <p:nvSpPr>
          <p:cNvPr id="7" name="Text 5"/>
          <p:cNvSpPr/>
          <p:nvPr/>
        </p:nvSpPr>
        <p:spPr>
          <a:xfrm>
            <a:off x="822960" y="2103120"/>
            <a:ext cx="10515600" cy="100584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Tesco needs to offer credible value to retain customers while ensuring that discounts generate enough incremental demand or strategic benefit to justify the contribution given up.</a:t>
            </a:r>
            <a:endParaRPr lang="en-US" sz="2000" dirty="0"/>
          </a:p>
        </p:txBody>
      </p:sp>
      <p:sp>
        <p:nvSpPr>
          <p:cNvPr id="8" name="Shape 6"/>
          <p:cNvSpPr/>
          <p:nvPr/>
        </p:nvSpPr>
        <p:spPr>
          <a:xfrm>
            <a:off x="457200" y="3749040"/>
            <a:ext cx="5394960" cy="2286000"/>
          </a:xfrm>
          <a:prstGeom prst="roundRect">
            <a:avLst>
              <a:gd name="adj" fmla="val 3200"/>
            </a:avLst>
          </a:prstGeom>
          <a:solidFill>
            <a:srgbClr val="F8F7F4"/>
          </a:solidFill>
          <a:ln/>
        </p:spPr>
        <p:txBody>
          <a:bodyPr/>
          <a:lstStyle/>
          <a:p>
            <a:endParaRPr/>
          </a:p>
        </p:txBody>
      </p:sp>
      <p:sp>
        <p:nvSpPr>
          <p:cNvPr id="9" name="Text 7"/>
          <p:cNvSpPr/>
          <p:nvPr/>
        </p:nvSpPr>
        <p:spPr>
          <a:xfrm>
            <a:off x="457200" y="3749040"/>
            <a:ext cx="4846320" cy="365760"/>
          </a:xfrm>
          <a:prstGeom prst="rect">
            <a:avLst/>
          </a:prstGeom>
          <a:noFill/>
          <a:ln/>
        </p:spPr>
        <p:txBody>
          <a:bodyPr wrap="square"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If prices are too high</a:t>
            </a:r>
            <a:endParaRPr lang="en-US" sz="1600" dirty="0"/>
          </a:p>
        </p:txBody>
      </p:sp>
      <p:sp>
        <p:nvSpPr>
          <p:cNvPr id="10" name="Text 8"/>
          <p:cNvSpPr/>
          <p:nvPr/>
        </p:nvSpPr>
        <p:spPr>
          <a:xfrm>
            <a:off x="594264" y="4327423"/>
            <a:ext cx="1834111" cy="1280160"/>
          </a:xfrm>
          <a:prstGeom prst="rect">
            <a:avLst/>
          </a:prstGeom>
          <a:noFill/>
          <a:ln/>
        </p:spPr>
        <p:txBody>
          <a:bodyPr wrap="square" rtlCol="0" anchor="ctr"/>
          <a:lstStyle/>
          <a:p>
            <a:pPr marL="0" indent="0">
              <a:buNone/>
            </a:pPr>
            <a:r>
              <a:rPr lang="en-US" sz="1600" dirty="0">
                <a:solidFill>
                  <a:srgbClr val="1F2937"/>
                </a:solidFill>
                <a:latin typeface="Calibri" pitchFamily="34" charset="0"/>
                <a:ea typeface="Calibri" pitchFamily="34" charset="-122"/>
                <a:cs typeface="Calibri" pitchFamily="34" charset="-120"/>
              </a:rPr>
              <a:t>Customers may switch to rivals, putting sales and market share at risk.</a:t>
            </a:r>
            <a:endParaRPr lang="en-US" sz="1600" dirty="0"/>
          </a:p>
        </p:txBody>
      </p:sp>
      <p:sp>
        <p:nvSpPr>
          <p:cNvPr id="11" name="Shape 9"/>
          <p:cNvSpPr/>
          <p:nvPr/>
        </p:nvSpPr>
        <p:spPr>
          <a:xfrm>
            <a:off x="6126480" y="3749040"/>
            <a:ext cx="5394960" cy="2286000"/>
          </a:xfrm>
          <a:prstGeom prst="roundRect">
            <a:avLst>
              <a:gd name="adj" fmla="val 3200"/>
            </a:avLst>
          </a:prstGeom>
          <a:solidFill>
            <a:srgbClr val="F8F7F4"/>
          </a:solidFill>
          <a:ln/>
        </p:spPr>
        <p:txBody>
          <a:bodyPr/>
          <a:lstStyle/>
          <a:p>
            <a:endParaRPr/>
          </a:p>
        </p:txBody>
      </p:sp>
      <p:sp>
        <p:nvSpPr>
          <p:cNvPr id="12" name="Text 10"/>
          <p:cNvSpPr/>
          <p:nvPr/>
        </p:nvSpPr>
        <p:spPr>
          <a:xfrm>
            <a:off x="6096000" y="3804921"/>
            <a:ext cx="4846320" cy="365760"/>
          </a:xfrm>
          <a:prstGeom prst="rect">
            <a:avLst/>
          </a:prstGeom>
          <a:noFill/>
          <a:ln/>
        </p:spPr>
        <p:txBody>
          <a:bodyPr wrap="square"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If prices are cut too deeply</a:t>
            </a:r>
            <a:endParaRPr lang="en-US" sz="1600" dirty="0"/>
          </a:p>
        </p:txBody>
      </p:sp>
      <p:sp>
        <p:nvSpPr>
          <p:cNvPr id="13" name="Text 11"/>
          <p:cNvSpPr/>
          <p:nvPr/>
        </p:nvSpPr>
        <p:spPr>
          <a:xfrm>
            <a:off x="6224803" y="4389120"/>
            <a:ext cx="2260436" cy="1325880"/>
          </a:xfrm>
          <a:prstGeom prst="rect">
            <a:avLst/>
          </a:prstGeom>
          <a:noFill/>
          <a:ln/>
        </p:spPr>
        <p:txBody>
          <a:bodyPr wrap="square" rtlCol="0" anchor="ctr"/>
          <a:lstStyle/>
          <a:p>
            <a:pPr marL="0" indent="0">
              <a:buNone/>
            </a:pPr>
            <a:r>
              <a:rPr lang="en-US" sz="1600" dirty="0">
                <a:solidFill>
                  <a:srgbClr val="1F2937"/>
                </a:solidFill>
                <a:latin typeface="Calibri" pitchFamily="34" charset="0"/>
                <a:ea typeface="Calibri" pitchFamily="34" charset="-122"/>
                <a:cs typeface="Calibri" pitchFamily="34" charset="-120"/>
              </a:rPr>
              <a:t>If prices are cut without enough incremental demand, contribution per unit falls and total profit can weaken.</a:t>
            </a:r>
            <a:endParaRPr lang="en-US" sz="1600" dirty="0"/>
          </a:p>
        </p:txBody>
      </p:sp>
      <p:pic>
        <p:nvPicPr>
          <p:cNvPr id="15" name="Picture 14">
            <a:extLst>
              <a:ext uri="{FF2B5EF4-FFF2-40B4-BE49-F238E27FC236}">
                <a16:creationId xmlns:a16="http://schemas.microsoft.com/office/drawing/2014/main" id="{7CB0599E-07BC-1BEC-FC52-130CEFFCE915}"/>
              </a:ext>
            </a:extLst>
          </p:cNvPr>
          <p:cNvPicPr>
            <a:picLocks noChangeAspect="1"/>
          </p:cNvPicPr>
          <p:nvPr/>
        </p:nvPicPr>
        <p:blipFill>
          <a:blip r:embed="rId3"/>
          <a:stretch>
            <a:fillRect/>
          </a:stretch>
        </p:blipFill>
        <p:spPr>
          <a:xfrm>
            <a:off x="2776630" y="3776899"/>
            <a:ext cx="3075530" cy="2285999"/>
          </a:xfrm>
          <a:prstGeom prst="rect">
            <a:avLst/>
          </a:prstGeom>
        </p:spPr>
      </p:pic>
      <p:pic>
        <p:nvPicPr>
          <p:cNvPr id="18" name="Picture 17">
            <a:extLst>
              <a:ext uri="{FF2B5EF4-FFF2-40B4-BE49-F238E27FC236}">
                <a16:creationId xmlns:a16="http://schemas.microsoft.com/office/drawing/2014/main" id="{E1E49662-D6F0-13D5-22F0-FD039BE4562A}"/>
              </a:ext>
            </a:extLst>
          </p:cNvPr>
          <p:cNvPicPr>
            <a:picLocks noChangeAspect="1"/>
          </p:cNvPicPr>
          <p:nvPr/>
        </p:nvPicPr>
        <p:blipFill>
          <a:blip r:embed="rId4"/>
          <a:stretch>
            <a:fillRect/>
          </a:stretch>
        </p:blipFill>
        <p:spPr>
          <a:xfrm>
            <a:off x="8833494" y="3776898"/>
            <a:ext cx="2870826" cy="225814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0515600" y="6537960"/>
            <a:ext cx="1371600" cy="228600"/>
          </a:xfrm>
          <a:prstGeom prst="rect">
            <a:avLst/>
          </a:prstGeom>
          <a:noFill/>
          <a:ln/>
        </p:spPr>
        <p:txBody>
          <a:bodyPr wrap="square" rtlCol="0" anchor="ctr"/>
          <a:lstStyle/>
          <a:p>
            <a:pPr marL="0" indent="0" algn="r">
              <a:buNone/>
            </a:pPr>
            <a:r>
              <a:rPr sz="900">
                <a:solidFill>
                  <a:srgbClr val="6B7280"/>
                </a:solidFill>
                <a:latin typeface="Calibri"/>
              </a:rPr>
              <a:t>5 | 12</a:t>
            </a:r>
            <a:endParaRPr lang="en-US" sz="1100" dirty="0"/>
          </a:p>
        </p:txBody>
      </p:sp>
      <p:sp>
        <p:nvSpPr>
          <p:cNvPr id="4" name="Text 2"/>
          <p:cNvSpPr/>
          <p:nvPr/>
        </p:nvSpPr>
        <p:spPr>
          <a:xfrm>
            <a:off x="457200" y="548640"/>
            <a:ext cx="10972800" cy="457200"/>
          </a:xfrm>
          <a:prstGeom prst="rect">
            <a:avLst/>
          </a:prstGeom>
          <a:noFill/>
          <a:ln/>
        </p:spPr>
        <p:txBody>
          <a:bodyPr wrap="square" rtlCol="0" anchor="ctr"/>
          <a:lstStyle/>
          <a:p>
            <a:pPr marL="0" indent="0">
              <a:buNone/>
            </a:pPr>
            <a:r>
              <a:rPr lang="en-US" sz="2800" b="1" dirty="0">
                <a:solidFill>
                  <a:srgbClr val="0B1F3A"/>
                </a:solidFill>
                <a:latin typeface="Calibri" pitchFamily="34" charset="0"/>
                <a:ea typeface="Calibri" pitchFamily="34" charset="-122"/>
                <a:cs typeface="Calibri" pitchFamily="34" charset="-120"/>
              </a:rPr>
              <a:t>What is Tesco’s current pricing strategy?</a:t>
            </a:r>
            <a:endParaRPr lang="en-US" sz="2800" dirty="0"/>
          </a:p>
        </p:txBody>
      </p:sp>
      <p:sp>
        <p:nvSpPr>
          <p:cNvPr id="5" name="Shape 3"/>
          <p:cNvSpPr/>
          <p:nvPr/>
        </p:nvSpPr>
        <p:spPr>
          <a:xfrm>
            <a:off x="457200" y="1188720"/>
            <a:ext cx="11247120" cy="1143000"/>
          </a:xfrm>
          <a:prstGeom prst="roundRect">
            <a:avLst>
              <a:gd name="adj" fmla="val 4800"/>
            </a:avLst>
          </a:prstGeom>
          <a:solidFill>
            <a:srgbClr val="F8F7F4"/>
          </a:solidFill>
          <a:ln/>
        </p:spPr>
        <p:txBody>
          <a:bodyPr/>
          <a:lstStyle/>
          <a:p>
            <a:endParaRPr/>
          </a:p>
        </p:txBody>
      </p:sp>
      <p:sp>
        <p:nvSpPr>
          <p:cNvPr id="6" name="Shape 4"/>
          <p:cNvSpPr/>
          <p:nvPr/>
        </p:nvSpPr>
        <p:spPr>
          <a:xfrm>
            <a:off x="457200" y="1188720"/>
            <a:ext cx="109728" cy="1143000"/>
          </a:xfrm>
          <a:prstGeom prst="rect">
            <a:avLst/>
          </a:prstGeom>
          <a:solidFill>
            <a:srgbClr val="C00000"/>
          </a:solidFill>
          <a:ln/>
        </p:spPr>
        <p:txBody>
          <a:bodyPr/>
          <a:lstStyle/>
          <a:p>
            <a:endParaRPr/>
          </a:p>
        </p:txBody>
      </p:sp>
      <p:sp>
        <p:nvSpPr>
          <p:cNvPr id="7" name="Text 5"/>
          <p:cNvSpPr/>
          <p:nvPr/>
        </p:nvSpPr>
        <p:spPr>
          <a:xfrm>
            <a:off x="822960" y="1417320"/>
            <a:ext cx="3200400" cy="685800"/>
          </a:xfrm>
          <a:prstGeom prst="rect">
            <a:avLst/>
          </a:prstGeom>
          <a:noFill/>
          <a:ln/>
        </p:spPr>
        <p:txBody>
          <a:bodyPr wrap="square"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Aldi Price Match</a:t>
            </a:r>
            <a:endParaRPr lang="en-US" sz="1600" dirty="0"/>
          </a:p>
        </p:txBody>
      </p:sp>
      <p:sp>
        <p:nvSpPr>
          <p:cNvPr id="8" name="Text 6"/>
          <p:cNvSpPr/>
          <p:nvPr/>
        </p:nvSpPr>
        <p:spPr>
          <a:xfrm>
            <a:off x="4206240" y="1417320"/>
            <a:ext cx="7223760" cy="685800"/>
          </a:xfrm>
          <a:prstGeom prst="rect">
            <a:avLst/>
          </a:prstGeom>
          <a:noFill/>
          <a:ln/>
        </p:spPr>
        <p:txBody>
          <a:bodyPr wrap="square" rtlCol="0" anchor="ctr"/>
          <a:lstStyle/>
          <a:p>
            <a:pPr marL="0" indent="0">
              <a:buNone/>
            </a:pPr>
            <a:r>
              <a:rPr lang="en-US" sz="1400" dirty="0">
                <a:solidFill>
                  <a:srgbClr val="1F2937"/>
                </a:solidFill>
                <a:latin typeface="Calibri" pitchFamily="34" charset="0"/>
                <a:ea typeface="Calibri" pitchFamily="34" charset="-122"/>
                <a:cs typeface="Calibri" pitchFamily="34" charset="-120"/>
              </a:rPr>
              <a:t>Price-match selected everyday products against Aldi to signal value on items customers readily compare. The impact should be tested on matched products.</a:t>
            </a:r>
            <a:endParaRPr lang="en-US" sz="1400" dirty="0"/>
          </a:p>
        </p:txBody>
      </p:sp>
      <p:sp>
        <p:nvSpPr>
          <p:cNvPr id="9" name="Shape 7"/>
          <p:cNvSpPr/>
          <p:nvPr/>
        </p:nvSpPr>
        <p:spPr>
          <a:xfrm>
            <a:off x="457200" y="2423160"/>
            <a:ext cx="11247120" cy="1143000"/>
          </a:xfrm>
          <a:prstGeom prst="roundRect">
            <a:avLst>
              <a:gd name="adj" fmla="val 4800"/>
            </a:avLst>
          </a:prstGeom>
          <a:solidFill>
            <a:srgbClr val="F8F7F4"/>
          </a:solidFill>
          <a:ln/>
        </p:spPr>
        <p:txBody>
          <a:bodyPr/>
          <a:lstStyle/>
          <a:p>
            <a:endParaRPr/>
          </a:p>
        </p:txBody>
      </p:sp>
      <p:sp>
        <p:nvSpPr>
          <p:cNvPr id="10" name="Shape 8"/>
          <p:cNvSpPr/>
          <p:nvPr/>
        </p:nvSpPr>
        <p:spPr>
          <a:xfrm>
            <a:off x="457200" y="2423160"/>
            <a:ext cx="109728" cy="1143000"/>
          </a:xfrm>
          <a:prstGeom prst="rect">
            <a:avLst/>
          </a:prstGeom>
          <a:solidFill>
            <a:srgbClr val="C00000"/>
          </a:solidFill>
          <a:ln/>
        </p:spPr>
        <p:txBody>
          <a:bodyPr/>
          <a:lstStyle/>
          <a:p>
            <a:endParaRPr/>
          </a:p>
        </p:txBody>
      </p:sp>
      <p:sp>
        <p:nvSpPr>
          <p:cNvPr id="11" name="Text 9"/>
          <p:cNvSpPr/>
          <p:nvPr/>
        </p:nvSpPr>
        <p:spPr>
          <a:xfrm>
            <a:off x="822960" y="2651760"/>
            <a:ext cx="3200400" cy="685800"/>
          </a:xfrm>
          <a:prstGeom prst="rect">
            <a:avLst/>
          </a:prstGeom>
          <a:noFill/>
          <a:ln/>
        </p:spPr>
        <p:txBody>
          <a:bodyPr wrap="square"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Everyday Low Prices</a:t>
            </a:r>
            <a:endParaRPr lang="en-US" sz="1600" dirty="0"/>
          </a:p>
        </p:txBody>
      </p:sp>
      <p:sp>
        <p:nvSpPr>
          <p:cNvPr id="12" name="Text 10"/>
          <p:cNvSpPr/>
          <p:nvPr/>
        </p:nvSpPr>
        <p:spPr>
          <a:xfrm>
            <a:off x="4206240" y="2651760"/>
            <a:ext cx="7223760" cy="685800"/>
          </a:xfrm>
          <a:prstGeom prst="rect">
            <a:avLst/>
          </a:prstGeom>
          <a:noFill/>
          <a:ln/>
        </p:spPr>
        <p:txBody>
          <a:bodyPr wrap="square" rtlCol="0" anchor="ctr"/>
          <a:lstStyle/>
          <a:p>
            <a:pPr marL="0" indent="0">
              <a:buNone/>
            </a:pPr>
            <a:r>
              <a:rPr lang="en-US" sz="1400" dirty="0">
                <a:solidFill>
                  <a:srgbClr val="1F2937"/>
                </a:solidFill>
                <a:latin typeface="Calibri" pitchFamily="34" charset="0"/>
                <a:ea typeface="Calibri" pitchFamily="34" charset="-122"/>
                <a:cs typeface="Calibri" pitchFamily="34" charset="-120"/>
              </a:rPr>
              <a:t>Maintain competitive shelf prices on selected lines, reducing reliance on temporary discounts as the only value signal.</a:t>
            </a:r>
            <a:endParaRPr lang="en-US" sz="1400" dirty="0"/>
          </a:p>
        </p:txBody>
      </p:sp>
      <p:sp>
        <p:nvSpPr>
          <p:cNvPr id="13" name="Shape 11"/>
          <p:cNvSpPr/>
          <p:nvPr/>
        </p:nvSpPr>
        <p:spPr>
          <a:xfrm>
            <a:off x="457200" y="3657600"/>
            <a:ext cx="11247120" cy="1143000"/>
          </a:xfrm>
          <a:prstGeom prst="roundRect">
            <a:avLst>
              <a:gd name="adj" fmla="val 4800"/>
            </a:avLst>
          </a:prstGeom>
          <a:solidFill>
            <a:srgbClr val="F8F7F4"/>
          </a:solidFill>
          <a:ln/>
        </p:spPr>
        <p:txBody>
          <a:bodyPr/>
          <a:lstStyle/>
          <a:p>
            <a:endParaRPr/>
          </a:p>
        </p:txBody>
      </p:sp>
      <p:sp>
        <p:nvSpPr>
          <p:cNvPr id="14" name="Shape 12"/>
          <p:cNvSpPr/>
          <p:nvPr/>
        </p:nvSpPr>
        <p:spPr>
          <a:xfrm>
            <a:off x="457200" y="3657600"/>
            <a:ext cx="109728" cy="1143000"/>
          </a:xfrm>
          <a:prstGeom prst="rect">
            <a:avLst/>
          </a:prstGeom>
          <a:solidFill>
            <a:srgbClr val="C00000"/>
          </a:solidFill>
          <a:ln/>
        </p:spPr>
        <p:txBody>
          <a:bodyPr/>
          <a:lstStyle/>
          <a:p>
            <a:endParaRPr/>
          </a:p>
        </p:txBody>
      </p:sp>
      <p:sp>
        <p:nvSpPr>
          <p:cNvPr id="15" name="Text 13"/>
          <p:cNvSpPr/>
          <p:nvPr/>
        </p:nvSpPr>
        <p:spPr>
          <a:xfrm>
            <a:off x="822960" y="3886200"/>
            <a:ext cx="3200400" cy="685800"/>
          </a:xfrm>
          <a:prstGeom prst="rect">
            <a:avLst/>
          </a:prstGeom>
          <a:noFill/>
          <a:ln/>
        </p:spPr>
        <p:txBody>
          <a:bodyPr wrap="square"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Clubcard Prices</a:t>
            </a:r>
            <a:endParaRPr lang="en-US" sz="1600" dirty="0"/>
          </a:p>
        </p:txBody>
      </p:sp>
      <p:sp>
        <p:nvSpPr>
          <p:cNvPr id="16" name="Text 14"/>
          <p:cNvSpPr/>
          <p:nvPr/>
        </p:nvSpPr>
        <p:spPr>
          <a:xfrm>
            <a:off x="4206240" y="3886200"/>
            <a:ext cx="7223760" cy="685800"/>
          </a:xfrm>
          <a:prstGeom prst="rect">
            <a:avLst/>
          </a:prstGeom>
          <a:noFill/>
          <a:ln/>
        </p:spPr>
        <p:txBody>
          <a:bodyPr wrap="square" rtlCol="0" anchor="ctr"/>
          <a:lstStyle/>
          <a:p>
            <a:pPr marL="0" indent="0">
              <a:buNone/>
            </a:pPr>
            <a:r>
              <a:rPr lang="en-US" sz="1400" dirty="0">
                <a:solidFill>
                  <a:srgbClr val="1F2937"/>
                </a:solidFill>
                <a:latin typeface="Calibri" pitchFamily="34" charset="0"/>
                <a:ea typeface="Calibri" pitchFamily="34" charset="-122"/>
                <a:cs typeface="Calibri" pitchFamily="34" charset="-120"/>
              </a:rPr>
              <a:t>Offer loyalty-linked discounts. Evaluate whether each offer changes buying behaviour or subsidises purchases customers would have made anyway.</a:t>
            </a:r>
            <a:endParaRPr lang="en-US" sz="1400" dirty="0"/>
          </a:p>
        </p:txBody>
      </p:sp>
      <p:sp>
        <p:nvSpPr>
          <p:cNvPr id="17" name="Shape 15"/>
          <p:cNvSpPr/>
          <p:nvPr/>
        </p:nvSpPr>
        <p:spPr>
          <a:xfrm>
            <a:off x="457200" y="4892040"/>
            <a:ext cx="11247120" cy="1143000"/>
          </a:xfrm>
          <a:prstGeom prst="roundRect">
            <a:avLst>
              <a:gd name="adj" fmla="val 4800"/>
            </a:avLst>
          </a:prstGeom>
          <a:solidFill>
            <a:srgbClr val="F8F7F4"/>
          </a:solidFill>
          <a:ln/>
        </p:spPr>
        <p:txBody>
          <a:bodyPr/>
          <a:lstStyle/>
          <a:p>
            <a:endParaRPr/>
          </a:p>
        </p:txBody>
      </p:sp>
      <p:sp>
        <p:nvSpPr>
          <p:cNvPr id="18" name="Shape 16"/>
          <p:cNvSpPr/>
          <p:nvPr/>
        </p:nvSpPr>
        <p:spPr>
          <a:xfrm>
            <a:off x="457200" y="4892040"/>
            <a:ext cx="109728" cy="1143000"/>
          </a:xfrm>
          <a:prstGeom prst="rect">
            <a:avLst/>
          </a:prstGeom>
          <a:solidFill>
            <a:srgbClr val="C00000"/>
          </a:solidFill>
          <a:ln/>
        </p:spPr>
        <p:txBody>
          <a:bodyPr/>
          <a:lstStyle/>
          <a:p>
            <a:endParaRPr/>
          </a:p>
        </p:txBody>
      </p:sp>
      <p:sp>
        <p:nvSpPr>
          <p:cNvPr id="19" name="Text 17"/>
          <p:cNvSpPr/>
          <p:nvPr/>
        </p:nvSpPr>
        <p:spPr>
          <a:xfrm>
            <a:off x="822960" y="5120640"/>
            <a:ext cx="3200400" cy="685800"/>
          </a:xfrm>
          <a:prstGeom prst="rect">
            <a:avLst/>
          </a:prstGeom>
          <a:noFill/>
          <a:ln/>
        </p:spPr>
        <p:txBody>
          <a:bodyPr wrap="square"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Tesco Finest</a:t>
            </a:r>
            <a:endParaRPr lang="en-US" sz="1600" dirty="0"/>
          </a:p>
        </p:txBody>
      </p:sp>
      <p:sp>
        <p:nvSpPr>
          <p:cNvPr id="20" name="Text 18"/>
          <p:cNvSpPr/>
          <p:nvPr/>
        </p:nvSpPr>
        <p:spPr>
          <a:xfrm>
            <a:off x="4206240" y="5120640"/>
            <a:ext cx="7223760" cy="685800"/>
          </a:xfrm>
          <a:prstGeom prst="rect">
            <a:avLst/>
          </a:prstGeom>
          <a:noFill/>
          <a:ln/>
        </p:spPr>
        <p:txBody>
          <a:bodyPr wrap="square" rtlCol="0" anchor="ctr"/>
          <a:lstStyle/>
          <a:p>
            <a:pPr marL="0" indent="0">
              <a:buNone/>
            </a:pPr>
            <a:r>
              <a:rPr lang="en-US" sz="1400" dirty="0">
                <a:solidFill>
                  <a:srgbClr val="1F2937"/>
                </a:solidFill>
                <a:latin typeface="Calibri" pitchFamily="34" charset="0"/>
                <a:ea typeface="Calibri" pitchFamily="34" charset="-122"/>
                <a:cs typeface="Calibri" pitchFamily="34" charset="-120"/>
              </a:rPr>
              <a:t>Offer a premium range that supports customer choice and mix. Do not assume premium sales automatically fund price investment without incremental profit evidence.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Rounded Rectangle 23">
            <a:extLst>
              <a:ext uri="{FF2B5EF4-FFF2-40B4-BE49-F238E27FC236}">
                <a16:creationId xmlns:a16="http://schemas.microsoft.com/office/drawing/2014/main" id="{6023AD2A-55C0-A34C-F15C-0F9C7BC5F719}"/>
              </a:ext>
            </a:extLst>
          </p:cNvPr>
          <p:cNvSpPr/>
          <p:nvPr/>
        </p:nvSpPr>
        <p:spPr>
          <a:xfrm>
            <a:off x="429768" y="3089684"/>
            <a:ext cx="5486400" cy="2542032"/>
          </a:xfrm>
          <a:prstGeom prst="roundRect">
            <a:avLst>
              <a:gd name="adj" fmla="val 8000"/>
            </a:avLst>
          </a:prstGeom>
          <a:solidFill>
            <a:srgbClr val="002060"/>
          </a:solidFill>
          <a:ln>
            <a:solidFill>
              <a:srgbClr val="FEF3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29768" y="713726"/>
            <a:ext cx="7421583" cy="375487"/>
          </a:xfrm>
          <a:prstGeom prst="rect">
            <a:avLst/>
          </a:prstGeom>
          <a:noFill/>
        </p:spPr>
        <p:txBody>
          <a:bodyPr wrap="none" lIns="45720" tIns="18288" rIns="45720" bIns="18288" anchor="t">
            <a:spAutoFit/>
          </a:bodyPr>
          <a:lstStyle/>
          <a:p>
            <a:pPr algn="l">
              <a:spcAft>
                <a:spcPts val="200"/>
              </a:spcAft>
            </a:pPr>
            <a:r>
              <a:rPr sz="2200" b="1" dirty="0">
                <a:solidFill>
                  <a:srgbClr val="0B1F3A"/>
                </a:solidFill>
                <a:latin typeface="Calibri"/>
              </a:rPr>
              <a:t>Sales grew faster than adjusted operating profit</a:t>
            </a:r>
          </a:p>
        </p:txBody>
      </p:sp>
      <p:sp>
        <p:nvSpPr>
          <p:cNvPr id="5" name="Rounded Rectangle 4"/>
          <p:cNvSpPr/>
          <p:nvPr/>
        </p:nvSpPr>
        <p:spPr>
          <a:xfrm>
            <a:off x="502920" y="1417320"/>
            <a:ext cx="2697480" cy="1417320"/>
          </a:xfrm>
          <a:prstGeom prst="roundRect">
            <a:avLst>
              <a:gd name="adj" fmla="val 8000"/>
            </a:avLst>
          </a:prstGeom>
          <a:solidFill>
            <a:srgbClr val="F8F7F4"/>
          </a:solidFill>
          <a:ln>
            <a:solidFill>
              <a:srgbClr val="E1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27048"/>
            <a:ext cx="2423160" cy="256032"/>
          </a:xfrm>
          <a:prstGeom prst="rect">
            <a:avLst/>
          </a:prstGeom>
          <a:noFill/>
        </p:spPr>
        <p:txBody>
          <a:bodyPr wrap="square" lIns="45720" rIns="45720" anchor="t">
            <a:spAutoFit/>
          </a:bodyPr>
          <a:lstStyle/>
          <a:p>
            <a:pPr algn="l">
              <a:spcAft>
                <a:spcPts val="200"/>
              </a:spcAft>
            </a:pPr>
            <a:r>
              <a:rPr sz="1000" b="1" i="0" dirty="0">
                <a:solidFill>
                  <a:srgbClr val="6B7280"/>
                </a:solidFill>
                <a:latin typeface="Calibri"/>
              </a:rPr>
              <a:t>GROUP SALES</a:t>
            </a:r>
          </a:p>
        </p:txBody>
      </p:sp>
      <p:sp>
        <p:nvSpPr>
          <p:cNvPr id="7" name="TextBox 6"/>
          <p:cNvSpPr txBox="1"/>
          <p:nvPr/>
        </p:nvSpPr>
        <p:spPr>
          <a:xfrm>
            <a:off x="640080" y="1810512"/>
            <a:ext cx="2423160" cy="446276"/>
          </a:xfrm>
          <a:prstGeom prst="rect">
            <a:avLst/>
          </a:prstGeom>
          <a:noFill/>
        </p:spPr>
        <p:txBody>
          <a:bodyPr wrap="square" lIns="45720" rIns="45720" anchor="t">
            <a:spAutoFit/>
          </a:bodyPr>
          <a:lstStyle/>
          <a:p>
            <a:pPr algn="l">
              <a:spcAft>
                <a:spcPts val="200"/>
              </a:spcAft>
            </a:pPr>
            <a:r>
              <a:rPr sz="2300" b="1" i="0" dirty="0">
                <a:solidFill>
                  <a:schemeClr val="accent6">
                    <a:lumMod val="50000"/>
                  </a:schemeClr>
                </a:solidFill>
                <a:latin typeface="Calibri"/>
              </a:rPr>
              <a:t>+4.6%</a:t>
            </a:r>
          </a:p>
        </p:txBody>
      </p:sp>
      <p:sp>
        <p:nvSpPr>
          <p:cNvPr id="8" name="TextBox 7"/>
          <p:cNvSpPr txBox="1"/>
          <p:nvPr/>
        </p:nvSpPr>
        <p:spPr>
          <a:xfrm>
            <a:off x="640080" y="2322576"/>
            <a:ext cx="2423160" cy="238527"/>
          </a:xfrm>
          <a:prstGeom prst="rect">
            <a:avLst/>
          </a:prstGeom>
          <a:noFill/>
        </p:spPr>
        <p:txBody>
          <a:bodyPr wrap="square" lIns="45720" rIns="45720" anchor="t">
            <a:spAutoFit/>
          </a:bodyPr>
          <a:lstStyle/>
          <a:p>
            <a:pPr algn="l">
              <a:spcAft>
                <a:spcPts val="200"/>
              </a:spcAft>
            </a:pPr>
            <a:r>
              <a:rPr sz="950" b="0" i="0" dirty="0">
                <a:solidFill>
                  <a:schemeClr val="accent6">
                    <a:lumMod val="75000"/>
                  </a:schemeClr>
                </a:solidFill>
                <a:latin typeface="Calibri"/>
              </a:rPr>
              <a:t>£63.636bn → £66.588bn</a:t>
            </a:r>
          </a:p>
        </p:txBody>
      </p:sp>
      <p:sp>
        <p:nvSpPr>
          <p:cNvPr id="9" name="Rounded Rectangle 8"/>
          <p:cNvSpPr/>
          <p:nvPr/>
        </p:nvSpPr>
        <p:spPr>
          <a:xfrm>
            <a:off x="3383280" y="1417320"/>
            <a:ext cx="2697480" cy="1417320"/>
          </a:xfrm>
          <a:prstGeom prst="roundRect">
            <a:avLst>
              <a:gd name="adj" fmla="val 8000"/>
            </a:avLst>
          </a:prstGeom>
          <a:solidFill>
            <a:srgbClr val="F8F7F4"/>
          </a:solidFill>
          <a:ln>
            <a:solidFill>
              <a:srgbClr val="E1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20440" y="1527048"/>
            <a:ext cx="2423160" cy="256032"/>
          </a:xfrm>
          <a:prstGeom prst="rect">
            <a:avLst/>
          </a:prstGeom>
          <a:noFill/>
        </p:spPr>
        <p:txBody>
          <a:bodyPr wrap="square" lIns="45720" rIns="45720" anchor="t">
            <a:spAutoFit/>
          </a:bodyPr>
          <a:lstStyle/>
          <a:p>
            <a:pPr algn="l">
              <a:spcAft>
                <a:spcPts val="200"/>
              </a:spcAft>
            </a:pPr>
            <a:r>
              <a:rPr sz="1000" b="1" i="0">
                <a:solidFill>
                  <a:srgbClr val="6B7280"/>
                </a:solidFill>
                <a:latin typeface="Calibri"/>
              </a:rPr>
              <a:t>ADJUSTED OPERATING PROFIT</a:t>
            </a:r>
          </a:p>
        </p:txBody>
      </p:sp>
      <p:sp>
        <p:nvSpPr>
          <p:cNvPr id="11" name="TextBox 10"/>
          <p:cNvSpPr txBox="1"/>
          <p:nvPr/>
        </p:nvSpPr>
        <p:spPr>
          <a:xfrm>
            <a:off x="3520440" y="1810512"/>
            <a:ext cx="2423160" cy="446276"/>
          </a:xfrm>
          <a:prstGeom prst="rect">
            <a:avLst/>
          </a:prstGeom>
          <a:noFill/>
        </p:spPr>
        <p:txBody>
          <a:bodyPr wrap="square" lIns="45720" rIns="45720" anchor="t">
            <a:spAutoFit/>
          </a:bodyPr>
          <a:lstStyle/>
          <a:p>
            <a:pPr algn="l">
              <a:spcAft>
                <a:spcPts val="200"/>
              </a:spcAft>
            </a:pPr>
            <a:r>
              <a:rPr sz="2300" b="1" i="0" dirty="0">
                <a:solidFill>
                  <a:schemeClr val="accent6">
                    <a:lumMod val="75000"/>
                  </a:schemeClr>
                </a:solidFill>
                <a:latin typeface="Calibri"/>
              </a:rPr>
              <a:t>+0.8%</a:t>
            </a:r>
          </a:p>
        </p:txBody>
      </p:sp>
      <p:sp>
        <p:nvSpPr>
          <p:cNvPr id="12" name="TextBox 11"/>
          <p:cNvSpPr txBox="1"/>
          <p:nvPr/>
        </p:nvSpPr>
        <p:spPr>
          <a:xfrm>
            <a:off x="3520440" y="2322576"/>
            <a:ext cx="2423160" cy="238527"/>
          </a:xfrm>
          <a:prstGeom prst="rect">
            <a:avLst/>
          </a:prstGeom>
          <a:noFill/>
        </p:spPr>
        <p:txBody>
          <a:bodyPr wrap="square" lIns="45720" rIns="45720" anchor="t">
            <a:spAutoFit/>
          </a:bodyPr>
          <a:lstStyle/>
          <a:p>
            <a:pPr algn="l">
              <a:spcAft>
                <a:spcPts val="200"/>
              </a:spcAft>
            </a:pPr>
            <a:r>
              <a:rPr sz="950" b="0" i="0" dirty="0">
                <a:solidFill>
                  <a:schemeClr val="accent6">
                    <a:lumMod val="75000"/>
                  </a:schemeClr>
                </a:solidFill>
                <a:latin typeface="Calibri"/>
              </a:rPr>
              <a:t>£3.128bn → £3.152bn</a:t>
            </a:r>
          </a:p>
        </p:txBody>
      </p:sp>
      <p:sp>
        <p:nvSpPr>
          <p:cNvPr id="13" name="Rounded Rectangle 12"/>
          <p:cNvSpPr/>
          <p:nvPr/>
        </p:nvSpPr>
        <p:spPr>
          <a:xfrm>
            <a:off x="6263640" y="1417320"/>
            <a:ext cx="2697480" cy="1417320"/>
          </a:xfrm>
          <a:prstGeom prst="roundRect">
            <a:avLst>
              <a:gd name="adj" fmla="val 8000"/>
            </a:avLst>
          </a:prstGeom>
          <a:solidFill>
            <a:srgbClr val="F8F7F4"/>
          </a:solidFill>
          <a:ln>
            <a:solidFill>
              <a:srgbClr val="E1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1527048"/>
            <a:ext cx="2423160" cy="256032"/>
          </a:xfrm>
          <a:prstGeom prst="rect">
            <a:avLst/>
          </a:prstGeom>
          <a:noFill/>
        </p:spPr>
        <p:txBody>
          <a:bodyPr wrap="square" lIns="45720" rIns="45720" anchor="t">
            <a:spAutoFit/>
          </a:bodyPr>
          <a:lstStyle/>
          <a:p>
            <a:pPr algn="l">
              <a:spcAft>
                <a:spcPts val="200"/>
              </a:spcAft>
            </a:pPr>
            <a:r>
              <a:rPr sz="1000" b="1" i="0">
                <a:solidFill>
                  <a:srgbClr val="6B7280"/>
                </a:solidFill>
                <a:latin typeface="Calibri"/>
              </a:rPr>
              <a:t>SALES–PROFIT GROWTH GAP</a:t>
            </a:r>
          </a:p>
        </p:txBody>
      </p:sp>
      <p:sp>
        <p:nvSpPr>
          <p:cNvPr id="15" name="TextBox 14"/>
          <p:cNvSpPr txBox="1"/>
          <p:nvPr/>
        </p:nvSpPr>
        <p:spPr>
          <a:xfrm>
            <a:off x="6400800" y="1810512"/>
            <a:ext cx="2423160" cy="475488"/>
          </a:xfrm>
          <a:prstGeom prst="rect">
            <a:avLst/>
          </a:prstGeom>
          <a:noFill/>
        </p:spPr>
        <p:txBody>
          <a:bodyPr wrap="square" lIns="45720" rIns="45720" anchor="t">
            <a:spAutoFit/>
          </a:bodyPr>
          <a:lstStyle/>
          <a:p>
            <a:pPr algn="l">
              <a:spcAft>
                <a:spcPts val="200"/>
              </a:spcAft>
            </a:pPr>
            <a:r>
              <a:rPr sz="2300" b="1" i="0" dirty="0">
                <a:solidFill>
                  <a:srgbClr val="991B1B"/>
                </a:solidFill>
                <a:latin typeface="Calibri"/>
              </a:rPr>
              <a:t>3.8 pp</a:t>
            </a:r>
          </a:p>
        </p:txBody>
      </p:sp>
      <p:sp>
        <p:nvSpPr>
          <p:cNvPr id="16" name="TextBox 15"/>
          <p:cNvSpPr txBox="1"/>
          <p:nvPr/>
        </p:nvSpPr>
        <p:spPr>
          <a:xfrm>
            <a:off x="6400800" y="2322576"/>
            <a:ext cx="2423160" cy="238527"/>
          </a:xfrm>
          <a:prstGeom prst="rect">
            <a:avLst/>
          </a:prstGeom>
          <a:noFill/>
        </p:spPr>
        <p:txBody>
          <a:bodyPr wrap="square" lIns="45720" rIns="45720" anchor="t">
            <a:spAutoFit/>
          </a:bodyPr>
          <a:lstStyle/>
          <a:p>
            <a:pPr algn="l">
              <a:spcAft>
                <a:spcPts val="200"/>
              </a:spcAft>
            </a:pPr>
            <a:r>
              <a:rPr sz="950" b="0" i="0" dirty="0">
                <a:solidFill>
                  <a:srgbClr val="FF0000"/>
                </a:solidFill>
                <a:latin typeface="Calibri"/>
              </a:rPr>
              <a:t>Sales growth +4.6%; adjusted operating profit growth +0.8%</a:t>
            </a:r>
          </a:p>
        </p:txBody>
      </p:sp>
      <p:sp>
        <p:nvSpPr>
          <p:cNvPr id="17" name="Rounded Rectangle 16"/>
          <p:cNvSpPr/>
          <p:nvPr/>
        </p:nvSpPr>
        <p:spPr>
          <a:xfrm>
            <a:off x="9144000" y="1417320"/>
            <a:ext cx="2697480" cy="1417320"/>
          </a:xfrm>
          <a:prstGeom prst="roundRect">
            <a:avLst>
              <a:gd name="adj" fmla="val 8000"/>
            </a:avLst>
          </a:prstGeom>
          <a:solidFill>
            <a:srgbClr val="F8F7F4"/>
          </a:solidFill>
          <a:ln>
            <a:solidFill>
              <a:srgbClr val="E1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281160" y="1527048"/>
            <a:ext cx="2423160" cy="256032"/>
          </a:xfrm>
          <a:prstGeom prst="rect">
            <a:avLst/>
          </a:prstGeom>
          <a:noFill/>
        </p:spPr>
        <p:txBody>
          <a:bodyPr wrap="square" lIns="45720" rIns="45720" anchor="t">
            <a:spAutoFit/>
          </a:bodyPr>
          <a:lstStyle/>
          <a:p>
            <a:pPr algn="l">
              <a:spcAft>
                <a:spcPts val="200"/>
              </a:spcAft>
            </a:pPr>
            <a:r>
              <a:rPr sz="1000" b="1" i="0">
                <a:solidFill>
                  <a:srgbClr val="6B7280"/>
                </a:solidFill>
                <a:latin typeface="Calibri"/>
              </a:rPr>
              <a:t>FREE CASH FLOW</a:t>
            </a:r>
          </a:p>
        </p:txBody>
      </p:sp>
      <p:sp>
        <p:nvSpPr>
          <p:cNvPr id="19" name="TextBox 18"/>
          <p:cNvSpPr txBox="1"/>
          <p:nvPr/>
        </p:nvSpPr>
        <p:spPr>
          <a:xfrm>
            <a:off x="9281160" y="1810512"/>
            <a:ext cx="2423160" cy="475488"/>
          </a:xfrm>
          <a:prstGeom prst="rect">
            <a:avLst/>
          </a:prstGeom>
          <a:noFill/>
        </p:spPr>
        <p:txBody>
          <a:bodyPr wrap="square" lIns="45720" rIns="45720" anchor="t">
            <a:spAutoFit/>
          </a:bodyPr>
          <a:lstStyle/>
          <a:p>
            <a:pPr algn="l">
              <a:spcAft>
                <a:spcPts val="200"/>
              </a:spcAft>
            </a:pPr>
            <a:r>
              <a:rPr sz="2300" b="1" i="0">
                <a:solidFill>
                  <a:srgbClr val="166534"/>
                </a:solidFill>
                <a:latin typeface="Calibri"/>
              </a:rPr>
              <a:t>+11.8%</a:t>
            </a:r>
          </a:p>
        </p:txBody>
      </p:sp>
      <p:sp>
        <p:nvSpPr>
          <p:cNvPr id="20" name="TextBox 19"/>
          <p:cNvSpPr txBox="1"/>
          <p:nvPr/>
        </p:nvSpPr>
        <p:spPr>
          <a:xfrm>
            <a:off x="9262872" y="2313432"/>
            <a:ext cx="2423160" cy="238527"/>
          </a:xfrm>
          <a:prstGeom prst="rect">
            <a:avLst/>
          </a:prstGeom>
          <a:noFill/>
        </p:spPr>
        <p:txBody>
          <a:bodyPr wrap="square" lIns="45720" rIns="45720" anchor="t">
            <a:spAutoFit/>
          </a:bodyPr>
          <a:lstStyle/>
          <a:p>
            <a:pPr algn="l">
              <a:spcAft>
                <a:spcPts val="200"/>
              </a:spcAft>
            </a:pPr>
            <a:r>
              <a:rPr sz="950" b="0" i="0" dirty="0">
                <a:solidFill>
                  <a:schemeClr val="accent6">
                    <a:lumMod val="75000"/>
                  </a:schemeClr>
                </a:solidFill>
                <a:latin typeface="Calibri"/>
              </a:rPr>
              <a:t>£1.750bn → £1.957bn</a:t>
            </a:r>
          </a:p>
        </p:txBody>
      </p:sp>
      <p:sp>
        <p:nvSpPr>
          <p:cNvPr id="22" name="TextBox 21"/>
          <p:cNvSpPr txBox="1"/>
          <p:nvPr/>
        </p:nvSpPr>
        <p:spPr>
          <a:xfrm>
            <a:off x="713232" y="3246120"/>
            <a:ext cx="5029200" cy="276999"/>
          </a:xfrm>
          <a:prstGeom prst="rect">
            <a:avLst/>
          </a:prstGeom>
          <a:noFill/>
        </p:spPr>
        <p:txBody>
          <a:bodyPr wrap="square" lIns="45720" rIns="45720" anchor="t">
            <a:spAutoFit/>
          </a:bodyPr>
          <a:lstStyle/>
          <a:p>
            <a:pPr algn="l">
              <a:spcAft>
                <a:spcPts val="200"/>
              </a:spcAft>
            </a:pPr>
            <a:r>
              <a:rPr sz="1200" b="1" i="0" dirty="0">
                <a:solidFill>
                  <a:schemeClr val="bg1"/>
                </a:solidFill>
                <a:latin typeface="Calibri"/>
              </a:rPr>
              <a:t>CUSTOMER / COMPETITIVE SIGNALS</a:t>
            </a:r>
          </a:p>
        </p:txBody>
      </p:sp>
      <p:sp>
        <p:nvSpPr>
          <p:cNvPr id="23" name="TextBox 22"/>
          <p:cNvSpPr txBox="1"/>
          <p:nvPr/>
        </p:nvSpPr>
        <p:spPr>
          <a:xfrm>
            <a:off x="640080" y="3695164"/>
            <a:ext cx="4983480" cy="1132618"/>
          </a:xfrm>
          <a:prstGeom prst="rect">
            <a:avLst/>
          </a:prstGeom>
          <a:noFill/>
        </p:spPr>
        <p:txBody>
          <a:bodyPr wrap="square" lIns="73152" tIns="73152" rIns="73152" bIns="73152">
            <a:spAutoFit/>
          </a:bodyPr>
          <a:lstStyle/>
          <a:p>
            <a:pPr>
              <a:spcAft>
                <a:spcPts val="700"/>
              </a:spcAft>
            </a:pPr>
            <a:r>
              <a:rPr sz="1200" b="1" dirty="0">
                <a:solidFill>
                  <a:schemeClr val="bg1"/>
                </a:solidFill>
                <a:latin typeface="Calibri"/>
              </a:rPr>
              <a:t>UK like-for-like sales grew 4.2%; UK market share rose 24 bps to 28.5%. Tesco reported £535m delivered through Save to Invest. These figures describe performance; they do not isolate the effect of pricing.</a:t>
            </a:r>
          </a:p>
          <a:p>
            <a:pPr>
              <a:spcAft>
                <a:spcPts val="700"/>
              </a:spcAft>
            </a:pPr>
            <a:endParaRPr sz="1200" b="1" dirty="0">
              <a:solidFill>
                <a:schemeClr val="bg1"/>
              </a:solidFill>
              <a:latin typeface="Calibri"/>
            </a:endParaRPr>
          </a:p>
          <a:p>
            <a:pPr>
              <a:spcAft>
                <a:spcPts val="700"/>
              </a:spcAft>
            </a:pPr>
            <a:endParaRPr sz="1200" b="1" dirty="0">
              <a:solidFill>
                <a:schemeClr val="bg1"/>
              </a:solidFill>
              <a:latin typeface="Calibri"/>
            </a:endParaRPr>
          </a:p>
          <a:p>
            <a:pPr>
              <a:spcAft>
                <a:spcPts val="700"/>
              </a:spcAft>
            </a:pPr>
            <a:endParaRPr sz="1200" b="1" dirty="0">
              <a:solidFill>
                <a:schemeClr val="bg1"/>
              </a:solidFill>
              <a:latin typeface="Calibri"/>
            </a:endParaRPr>
          </a:p>
        </p:txBody>
      </p:sp>
      <p:sp>
        <p:nvSpPr>
          <p:cNvPr id="24" name="Rounded Rectangle 23"/>
          <p:cNvSpPr/>
          <p:nvPr/>
        </p:nvSpPr>
        <p:spPr>
          <a:xfrm>
            <a:off x="6199632" y="3063240"/>
            <a:ext cx="5486400" cy="2542032"/>
          </a:xfrm>
          <a:prstGeom prst="roundRect">
            <a:avLst>
              <a:gd name="adj" fmla="val 8000"/>
            </a:avLst>
          </a:prstGeom>
          <a:solidFill>
            <a:srgbClr val="002060"/>
          </a:solidFill>
          <a:ln>
            <a:solidFill>
              <a:srgbClr val="FEF3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19088" y="3246120"/>
            <a:ext cx="5029200" cy="276999"/>
          </a:xfrm>
          <a:prstGeom prst="rect">
            <a:avLst/>
          </a:prstGeom>
          <a:noFill/>
        </p:spPr>
        <p:txBody>
          <a:bodyPr wrap="square" lIns="45720" rIns="45720" anchor="t">
            <a:spAutoFit/>
          </a:bodyPr>
          <a:lstStyle/>
          <a:p>
            <a:pPr algn="l">
              <a:spcAft>
                <a:spcPts val="200"/>
              </a:spcAft>
            </a:pPr>
            <a:r>
              <a:rPr sz="1200" b="1" i="0" dirty="0">
                <a:solidFill>
                  <a:schemeClr val="accent4">
                    <a:lumMod val="20000"/>
                    <a:lumOff val="80000"/>
                  </a:schemeClr>
                </a:solidFill>
                <a:latin typeface="Calibri"/>
              </a:rPr>
              <a:t>WHAT THE DATA ACTUALLY MEANS</a:t>
            </a:r>
          </a:p>
        </p:txBody>
      </p:sp>
      <p:sp>
        <p:nvSpPr>
          <p:cNvPr id="26" name="TextBox 25"/>
          <p:cNvSpPr txBox="1"/>
          <p:nvPr/>
        </p:nvSpPr>
        <p:spPr>
          <a:xfrm>
            <a:off x="6419088" y="3639312"/>
            <a:ext cx="4983480" cy="1317284"/>
          </a:xfrm>
          <a:prstGeom prst="rect">
            <a:avLst/>
          </a:prstGeom>
          <a:noFill/>
        </p:spPr>
        <p:txBody>
          <a:bodyPr wrap="square" lIns="73152" tIns="73152" rIns="73152" bIns="73152">
            <a:spAutoFit/>
          </a:bodyPr>
          <a:lstStyle/>
          <a:p>
            <a:pPr>
              <a:spcAft>
                <a:spcPts val="700"/>
              </a:spcAft>
            </a:pPr>
            <a:r>
              <a:rPr sz="1200" b="1" dirty="0">
                <a:solidFill>
                  <a:schemeClr val="accent6">
                    <a:lumMod val="20000"/>
                    <a:lumOff val="80000"/>
                  </a:schemeClr>
                </a:solidFill>
                <a:latin typeface="Calibri"/>
              </a:rPr>
              <a:t>Sales and customer indicators strengthened, while adjusted operating profit grew more slowly than sales. This supports testing the return on price investment, but does not prove price cuts caused the growth gap. Inflation, mix and other costs may also contribute.</a:t>
            </a:r>
          </a:p>
          <a:p>
            <a:pPr>
              <a:spcAft>
                <a:spcPts val="700"/>
              </a:spcAft>
            </a:pPr>
            <a:endParaRPr sz="1200" b="1" dirty="0">
              <a:solidFill>
                <a:schemeClr val="accent6">
                  <a:lumMod val="20000"/>
                  <a:lumOff val="80000"/>
                </a:schemeClr>
              </a:solidFill>
              <a:latin typeface="Calibri"/>
            </a:endParaRPr>
          </a:p>
          <a:p>
            <a:pPr>
              <a:spcAft>
                <a:spcPts val="700"/>
              </a:spcAft>
            </a:pPr>
            <a:endParaRPr sz="1200" b="1" dirty="0">
              <a:solidFill>
                <a:schemeClr val="accent6">
                  <a:lumMod val="20000"/>
                  <a:lumOff val="80000"/>
                </a:schemeClr>
              </a:solidFill>
              <a:latin typeface="Calibri"/>
            </a:endParaRPr>
          </a:p>
          <a:p>
            <a:pPr>
              <a:spcAft>
                <a:spcPts val="700"/>
              </a:spcAft>
            </a:pPr>
            <a:endParaRPr sz="1200" b="1" dirty="0">
              <a:solidFill>
                <a:schemeClr val="accent6">
                  <a:lumMod val="20000"/>
                  <a:lumOff val="80000"/>
                </a:schemeClr>
              </a:solidFill>
              <a:latin typeface="Calibri"/>
            </a:endParaRPr>
          </a:p>
        </p:txBody>
      </p:sp>
      <p:sp>
        <p:nvSpPr>
          <p:cNvPr id="28" name="TextBox 27"/>
          <p:cNvSpPr txBox="1"/>
          <p:nvPr/>
        </p:nvSpPr>
        <p:spPr>
          <a:xfrm>
            <a:off x="11064240" y="6473952"/>
            <a:ext cx="658368" cy="201168"/>
          </a:xfrm>
          <a:prstGeom prst="rect">
            <a:avLst/>
          </a:prstGeom>
          <a:noFill/>
        </p:spPr>
        <p:txBody>
          <a:bodyPr wrap="square" lIns="45720" rIns="45720" anchor="t">
            <a:spAutoFit/>
          </a:bodyPr>
          <a:lstStyle/>
          <a:p>
            <a:pPr algn="r">
              <a:spcAft>
                <a:spcPts val="200"/>
              </a:spcAft>
            </a:pPr>
            <a:r>
              <a:rPr sz="900">
                <a:solidFill>
                  <a:srgbClr val="6B7280"/>
                </a:solidFill>
                <a:latin typeface="Calibri"/>
              </a:rPr>
              <a:t>6 | 12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475488" y="457200"/>
            <a:ext cx="11155680" cy="475488"/>
          </a:xfrm>
          <a:prstGeom prst="rect">
            <a:avLst/>
          </a:prstGeom>
          <a:noFill/>
        </p:spPr>
        <p:txBody>
          <a:bodyPr wrap="square" lIns="45720" rIns="45720" anchor="t">
            <a:spAutoFit/>
          </a:bodyPr>
          <a:lstStyle/>
          <a:p>
            <a:pPr algn="l">
              <a:spcAft>
                <a:spcPts val="200"/>
              </a:spcAft>
            </a:pPr>
            <a:r>
              <a:rPr sz="2500" b="1" i="0">
                <a:solidFill>
                  <a:srgbClr val="0B1F3A"/>
                </a:solidFill>
                <a:latin typeface="Calibri"/>
              </a:rPr>
              <a:t>What the public evidence shows—and what it cannot prove</a:t>
            </a:r>
          </a:p>
        </p:txBody>
      </p:sp>
      <p:sp>
        <p:nvSpPr>
          <p:cNvPr id="5" name="Rounded Rectangle 4"/>
          <p:cNvSpPr/>
          <p:nvPr/>
        </p:nvSpPr>
        <p:spPr>
          <a:xfrm>
            <a:off x="502920" y="1444752"/>
            <a:ext cx="3502152" cy="530352"/>
          </a:xfrm>
          <a:prstGeom prst="roundRect">
            <a:avLst>
              <a:gd name="adj" fmla="val 8000"/>
            </a:avLst>
          </a:prstGeom>
          <a:solidFill>
            <a:srgbClr val="0B1F3A"/>
          </a:solidFill>
          <a:ln>
            <a:solidFill>
              <a:srgbClr val="0B1F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21792" y="1554480"/>
            <a:ext cx="3264408" cy="310896"/>
          </a:xfrm>
          <a:prstGeom prst="rect">
            <a:avLst/>
          </a:prstGeom>
          <a:noFill/>
        </p:spPr>
        <p:txBody>
          <a:bodyPr wrap="square" lIns="45720" rIns="45720" anchor="t">
            <a:spAutoFit/>
          </a:bodyPr>
          <a:lstStyle/>
          <a:p>
            <a:pPr algn="l">
              <a:spcAft>
                <a:spcPts val="200"/>
              </a:spcAft>
            </a:pPr>
            <a:r>
              <a:rPr sz="1050" b="1" i="0">
                <a:solidFill>
                  <a:srgbClr val="FFFFFF"/>
                </a:solidFill>
                <a:latin typeface="Calibri"/>
              </a:rPr>
              <a:t>SUPPORTED BY THE ANNUAL REPORT</a:t>
            </a:r>
          </a:p>
        </p:txBody>
      </p:sp>
      <p:sp>
        <p:nvSpPr>
          <p:cNvPr id="7" name="Rounded Rectangle 6"/>
          <p:cNvSpPr/>
          <p:nvPr/>
        </p:nvSpPr>
        <p:spPr>
          <a:xfrm>
            <a:off x="502920" y="2084831"/>
            <a:ext cx="3502152" cy="3401568"/>
          </a:xfrm>
          <a:prstGeom prst="roundRect">
            <a:avLst>
              <a:gd name="adj" fmla="val 8000"/>
            </a:avLst>
          </a:prstGeom>
          <a:solidFill>
            <a:srgbClr val="F8F7F4"/>
          </a:solidFill>
          <a:ln>
            <a:solidFill>
              <a:srgbClr val="E1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2286000"/>
            <a:ext cx="3191256" cy="603504"/>
          </a:xfrm>
          <a:prstGeom prst="rect">
            <a:avLst/>
          </a:prstGeom>
          <a:noFill/>
        </p:spPr>
        <p:txBody>
          <a:bodyPr wrap="square" lIns="18288" tIns="18288" rIns="18288" bIns="18288" anchor="t">
            <a:spAutoFit/>
          </a:bodyPr>
          <a:lstStyle/>
          <a:p>
            <a:pPr algn="l">
              <a:spcAft>
                <a:spcPts val="200"/>
              </a:spcAft>
            </a:pPr>
            <a:r>
              <a:rPr sz="1120" b="0" i="0">
                <a:solidFill>
                  <a:srgbClr val="1F2937"/>
                </a:solidFill>
                <a:latin typeface="Calibri"/>
              </a:rPr>
              <a:t>• Targeted price investment responded to greater UK competition.</a:t>
            </a:r>
          </a:p>
        </p:txBody>
      </p:sp>
      <p:sp>
        <p:nvSpPr>
          <p:cNvPr id="9" name="TextBox 8"/>
          <p:cNvSpPr txBox="1"/>
          <p:nvPr/>
        </p:nvSpPr>
        <p:spPr>
          <a:xfrm>
            <a:off x="658368" y="3017520"/>
            <a:ext cx="3191256" cy="603504"/>
          </a:xfrm>
          <a:prstGeom prst="rect">
            <a:avLst/>
          </a:prstGeom>
          <a:noFill/>
        </p:spPr>
        <p:txBody>
          <a:bodyPr wrap="square" lIns="18288" tIns="18288" rIns="18288" bIns="18288" anchor="t">
            <a:spAutoFit/>
          </a:bodyPr>
          <a:lstStyle/>
          <a:p>
            <a:pPr algn="l">
              <a:spcAft>
                <a:spcPts val="200"/>
              </a:spcAft>
            </a:pPr>
            <a:r>
              <a:rPr sz="1120" b="0" i="0" dirty="0">
                <a:solidFill>
                  <a:srgbClr val="1F2937"/>
                </a:solidFill>
                <a:latin typeface="Calibri"/>
              </a:rPr>
              <a:t>• UK LFL sales grew 4.2%; UK share rose to 28.5%.</a:t>
            </a:r>
          </a:p>
        </p:txBody>
      </p:sp>
      <p:sp>
        <p:nvSpPr>
          <p:cNvPr id="10" name="TextBox 9"/>
          <p:cNvSpPr txBox="1"/>
          <p:nvPr/>
        </p:nvSpPr>
        <p:spPr>
          <a:xfrm>
            <a:off x="658368" y="3749039"/>
            <a:ext cx="3191256" cy="603504"/>
          </a:xfrm>
          <a:prstGeom prst="rect">
            <a:avLst/>
          </a:prstGeom>
          <a:noFill/>
        </p:spPr>
        <p:txBody>
          <a:bodyPr wrap="square" lIns="18288" tIns="18288" rIns="18288" bIns="18288" anchor="t">
            <a:spAutoFit/>
          </a:bodyPr>
          <a:lstStyle/>
          <a:p>
            <a:pPr algn="l">
              <a:spcAft>
                <a:spcPts val="200"/>
              </a:spcAft>
            </a:pPr>
            <a:r>
              <a:rPr sz="1120" b="0" i="0">
                <a:solidFill>
                  <a:srgbClr val="1F2937"/>
                </a:solidFill>
                <a:latin typeface="Calibri"/>
              </a:rPr>
              <a:t>• Save to Invest delivered c.£535m.</a:t>
            </a:r>
          </a:p>
        </p:txBody>
      </p:sp>
      <p:sp>
        <p:nvSpPr>
          <p:cNvPr id="11" name="TextBox 10"/>
          <p:cNvSpPr txBox="1"/>
          <p:nvPr/>
        </p:nvSpPr>
        <p:spPr>
          <a:xfrm>
            <a:off x="658368" y="4480559"/>
            <a:ext cx="3191256" cy="603504"/>
          </a:xfrm>
          <a:prstGeom prst="rect">
            <a:avLst/>
          </a:prstGeom>
          <a:noFill/>
        </p:spPr>
        <p:txBody>
          <a:bodyPr wrap="square" lIns="18288" tIns="18288" rIns="18288" bIns="18288" anchor="t">
            <a:spAutoFit/>
          </a:bodyPr>
          <a:lstStyle/>
          <a:p>
            <a:pPr algn="l">
              <a:spcAft>
                <a:spcPts val="200"/>
              </a:spcAft>
            </a:pPr>
            <a:r>
              <a:rPr sz="1120" b="0" i="0">
                <a:solidFill>
                  <a:srgbClr val="1F2937"/>
                </a:solidFill>
                <a:latin typeface="Calibri"/>
              </a:rPr>
              <a:t>• Cost pressures included higher National Insurance contributions and the EPR levy.</a:t>
            </a:r>
          </a:p>
        </p:txBody>
      </p:sp>
      <p:sp>
        <p:nvSpPr>
          <p:cNvPr id="12" name="Rounded Rectangle 11"/>
          <p:cNvSpPr/>
          <p:nvPr/>
        </p:nvSpPr>
        <p:spPr>
          <a:xfrm>
            <a:off x="4343400" y="1444752"/>
            <a:ext cx="3502152" cy="530352"/>
          </a:xfrm>
          <a:prstGeom prst="roundRect">
            <a:avLst>
              <a:gd name="adj" fmla="val 8000"/>
            </a:avLst>
          </a:prstGeom>
          <a:solidFill>
            <a:srgbClr val="C9A227"/>
          </a:solidFill>
          <a:ln>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62272" y="1554480"/>
            <a:ext cx="3264408" cy="310896"/>
          </a:xfrm>
          <a:prstGeom prst="rect">
            <a:avLst/>
          </a:prstGeom>
          <a:noFill/>
        </p:spPr>
        <p:txBody>
          <a:bodyPr wrap="square" lIns="45720" rIns="45720" anchor="t">
            <a:spAutoFit/>
          </a:bodyPr>
          <a:lstStyle/>
          <a:p>
            <a:pPr algn="l">
              <a:spcAft>
                <a:spcPts val="200"/>
              </a:spcAft>
            </a:pPr>
            <a:r>
              <a:rPr sz="1050" b="1" i="0">
                <a:solidFill>
                  <a:srgbClr val="FFFFFF"/>
                </a:solidFill>
                <a:latin typeface="Calibri"/>
              </a:rPr>
              <a:t>STRATEGIC INTERPRETATION</a:t>
            </a:r>
          </a:p>
        </p:txBody>
      </p:sp>
      <p:sp>
        <p:nvSpPr>
          <p:cNvPr id="14" name="Rounded Rectangle 13"/>
          <p:cNvSpPr/>
          <p:nvPr/>
        </p:nvSpPr>
        <p:spPr>
          <a:xfrm>
            <a:off x="4343400" y="2084831"/>
            <a:ext cx="3502152" cy="3401568"/>
          </a:xfrm>
          <a:prstGeom prst="roundRect">
            <a:avLst>
              <a:gd name="adj" fmla="val 8000"/>
            </a:avLst>
          </a:prstGeom>
          <a:solidFill>
            <a:srgbClr val="FEF3C7"/>
          </a:solidFill>
          <a:ln>
            <a:solidFill>
              <a:srgbClr val="E1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98848" y="2286000"/>
            <a:ext cx="3191256" cy="603504"/>
          </a:xfrm>
          <a:prstGeom prst="rect">
            <a:avLst/>
          </a:prstGeom>
          <a:noFill/>
        </p:spPr>
        <p:txBody>
          <a:bodyPr wrap="square" lIns="18288" tIns="18288" rIns="18288" bIns="18288" anchor="t">
            <a:spAutoFit/>
          </a:bodyPr>
          <a:lstStyle/>
          <a:p>
            <a:pPr algn="l">
              <a:spcAft>
                <a:spcPts val="200"/>
              </a:spcAft>
            </a:pPr>
            <a:r>
              <a:rPr sz="1120" b="0" i="0">
                <a:solidFill>
                  <a:srgbClr val="1F2937"/>
                </a:solidFill>
                <a:latin typeface="Calibri"/>
              </a:rPr>
              <a:t>• Price investment appears consistent with stronger volumes and market-share gains.</a:t>
            </a:r>
          </a:p>
        </p:txBody>
      </p:sp>
      <p:sp>
        <p:nvSpPr>
          <p:cNvPr id="16" name="TextBox 15"/>
          <p:cNvSpPr txBox="1"/>
          <p:nvPr/>
        </p:nvSpPr>
        <p:spPr>
          <a:xfrm>
            <a:off x="4498848" y="3017520"/>
            <a:ext cx="3191256" cy="603504"/>
          </a:xfrm>
          <a:prstGeom prst="rect">
            <a:avLst/>
          </a:prstGeom>
          <a:noFill/>
        </p:spPr>
        <p:txBody>
          <a:bodyPr wrap="square" lIns="18288" tIns="18288" rIns="18288" bIns="18288" anchor="t">
            <a:spAutoFit/>
          </a:bodyPr>
          <a:lstStyle/>
          <a:p>
            <a:pPr algn="l">
              <a:spcAft>
                <a:spcPts val="200"/>
              </a:spcAft>
            </a:pPr>
            <a:r>
              <a:rPr sz="1120" b="0" i="0">
                <a:solidFill>
                  <a:srgbClr val="1F2937"/>
                </a:solidFill>
                <a:latin typeface="Calibri"/>
              </a:rPr>
              <a:t>• Productivity savings helped fund customer investment and absorb cost inflation.</a:t>
            </a:r>
          </a:p>
        </p:txBody>
      </p:sp>
      <p:sp>
        <p:nvSpPr>
          <p:cNvPr id="17" name="TextBox 16"/>
          <p:cNvSpPr txBox="1"/>
          <p:nvPr/>
        </p:nvSpPr>
        <p:spPr>
          <a:xfrm>
            <a:off x="4498848" y="3749039"/>
            <a:ext cx="3191256" cy="603504"/>
          </a:xfrm>
          <a:prstGeom prst="rect">
            <a:avLst/>
          </a:prstGeom>
          <a:noFill/>
        </p:spPr>
        <p:txBody>
          <a:bodyPr wrap="square" lIns="18288" tIns="18288" rIns="18288" bIns="18288" anchor="t">
            <a:spAutoFit/>
          </a:bodyPr>
          <a:lstStyle/>
          <a:p>
            <a:pPr algn="l">
              <a:spcAft>
                <a:spcPts val="200"/>
              </a:spcAft>
            </a:pPr>
            <a:r>
              <a:rPr sz="1120" b="0" i="0">
                <a:solidFill>
                  <a:srgbClr val="1F2937"/>
                </a:solidFill>
                <a:latin typeface="Calibri"/>
              </a:rPr>
              <a:t>• Slower profit growth and lower margin make returns discipline worth investigating.</a:t>
            </a:r>
          </a:p>
        </p:txBody>
      </p:sp>
      <p:sp>
        <p:nvSpPr>
          <p:cNvPr id="18" name="Rounded Rectangle 17"/>
          <p:cNvSpPr/>
          <p:nvPr/>
        </p:nvSpPr>
        <p:spPr>
          <a:xfrm>
            <a:off x="8183879" y="1444752"/>
            <a:ext cx="3502152" cy="530352"/>
          </a:xfrm>
          <a:prstGeom prst="roundRect">
            <a:avLst>
              <a:gd name="adj" fmla="val 8000"/>
            </a:avLst>
          </a:prstGeom>
          <a:solidFill>
            <a:srgbClr val="991B1B"/>
          </a:solidFill>
          <a:ln>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02752" y="1554480"/>
            <a:ext cx="3264408" cy="310896"/>
          </a:xfrm>
          <a:prstGeom prst="rect">
            <a:avLst/>
          </a:prstGeom>
          <a:noFill/>
        </p:spPr>
        <p:txBody>
          <a:bodyPr wrap="square" lIns="45720" rIns="45720" anchor="t">
            <a:spAutoFit/>
          </a:bodyPr>
          <a:lstStyle/>
          <a:p>
            <a:pPr algn="l">
              <a:spcAft>
                <a:spcPts val="200"/>
              </a:spcAft>
            </a:pPr>
            <a:r>
              <a:rPr sz="1050" b="1" i="0">
                <a:solidFill>
                  <a:srgbClr val="FFFFFF"/>
                </a:solidFill>
                <a:latin typeface="Calibri"/>
              </a:rPr>
              <a:t>NOT PROVEN BY PUBLIC DATA</a:t>
            </a:r>
          </a:p>
        </p:txBody>
      </p:sp>
      <p:sp>
        <p:nvSpPr>
          <p:cNvPr id="20" name="Rounded Rectangle 19"/>
          <p:cNvSpPr/>
          <p:nvPr/>
        </p:nvSpPr>
        <p:spPr>
          <a:xfrm>
            <a:off x="8183879" y="2084831"/>
            <a:ext cx="3502152" cy="3401568"/>
          </a:xfrm>
          <a:prstGeom prst="roundRect">
            <a:avLst>
              <a:gd name="adj" fmla="val 8000"/>
            </a:avLst>
          </a:prstGeom>
          <a:solidFill>
            <a:srgbClr val="F8F7F4"/>
          </a:solidFill>
          <a:ln>
            <a:solidFill>
              <a:srgbClr val="E1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39327" y="2286000"/>
            <a:ext cx="3191256" cy="603504"/>
          </a:xfrm>
          <a:prstGeom prst="rect">
            <a:avLst/>
          </a:prstGeom>
          <a:noFill/>
        </p:spPr>
        <p:txBody>
          <a:bodyPr wrap="square" lIns="18288" tIns="18288" rIns="18288" bIns="18288" anchor="t">
            <a:spAutoFit/>
          </a:bodyPr>
          <a:lstStyle/>
          <a:p>
            <a:pPr algn="l">
              <a:spcAft>
                <a:spcPts val="200"/>
              </a:spcAft>
            </a:pPr>
            <a:r>
              <a:rPr sz="1120" b="0" i="0" dirty="0">
                <a:solidFill>
                  <a:srgbClr val="1F2937"/>
                </a:solidFill>
                <a:latin typeface="Calibri"/>
              </a:rPr>
              <a:t>• Exact incremental units caused by each price reduction.</a:t>
            </a:r>
          </a:p>
        </p:txBody>
      </p:sp>
      <p:sp>
        <p:nvSpPr>
          <p:cNvPr id="22" name="TextBox 21"/>
          <p:cNvSpPr txBox="1"/>
          <p:nvPr/>
        </p:nvSpPr>
        <p:spPr>
          <a:xfrm>
            <a:off x="8339327" y="3017520"/>
            <a:ext cx="3191256" cy="603504"/>
          </a:xfrm>
          <a:prstGeom prst="rect">
            <a:avLst/>
          </a:prstGeom>
          <a:noFill/>
        </p:spPr>
        <p:txBody>
          <a:bodyPr wrap="square" lIns="18288" tIns="18288" rIns="18288" bIns="18288" anchor="t">
            <a:spAutoFit/>
          </a:bodyPr>
          <a:lstStyle/>
          <a:p>
            <a:pPr algn="l">
              <a:spcAft>
                <a:spcPts val="200"/>
              </a:spcAft>
            </a:pPr>
            <a:r>
              <a:rPr sz="1120" b="0" i="0" dirty="0">
                <a:solidFill>
                  <a:srgbClr val="1F2937"/>
                </a:solidFill>
                <a:latin typeface="Calibri"/>
              </a:rPr>
              <a:t>• Whether promotions grow total contribution or shift purchases between products.</a:t>
            </a:r>
          </a:p>
        </p:txBody>
      </p:sp>
      <p:sp>
        <p:nvSpPr>
          <p:cNvPr id="23" name="TextBox 22"/>
          <p:cNvSpPr txBox="1"/>
          <p:nvPr/>
        </p:nvSpPr>
        <p:spPr>
          <a:xfrm>
            <a:off x="8339327" y="3749039"/>
            <a:ext cx="3191256" cy="603504"/>
          </a:xfrm>
          <a:prstGeom prst="rect">
            <a:avLst/>
          </a:prstGeom>
          <a:noFill/>
        </p:spPr>
        <p:txBody>
          <a:bodyPr wrap="square" lIns="18288" tIns="18288" rIns="18288" bIns="18288" anchor="t">
            <a:spAutoFit/>
          </a:bodyPr>
          <a:lstStyle/>
          <a:p>
            <a:pPr algn="l">
              <a:spcAft>
                <a:spcPts val="200"/>
              </a:spcAft>
            </a:pPr>
            <a:r>
              <a:rPr sz="1120" b="0" i="0" dirty="0">
                <a:solidFill>
                  <a:srgbClr val="1F2937"/>
                </a:solidFill>
                <a:latin typeface="Calibri"/>
              </a:rPr>
              <a:t>• SKU/category-level price elasticity and competitor price gaps.</a:t>
            </a:r>
          </a:p>
        </p:txBody>
      </p:sp>
      <p:sp>
        <p:nvSpPr>
          <p:cNvPr id="24" name="TextBox 23"/>
          <p:cNvSpPr txBox="1"/>
          <p:nvPr/>
        </p:nvSpPr>
        <p:spPr>
          <a:xfrm>
            <a:off x="8339327" y="4480559"/>
            <a:ext cx="3191256" cy="603504"/>
          </a:xfrm>
          <a:prstGeom prst="rect">
            <a:avLst/>
          </a:prstGeom>
          <a:noFill/>
        </p:spPr>
        <p:txBody>
          <a:bodyPr wrap="square" lIns="18288" tIns="18288" rIns="18288" bIns="18288" anchor="t">
            <a:spAutoFit/>
          </a:bodyPr>
          <a:lstStyle/>
          <a:p>
            <a:pPr algn="l">
              <a:spcAft>
                <a:spcPts val="200"/>
              </a:spcAft>
            </a:pPr>
            <a:r>
              <a:rPr sz="1120" b="0" i="0" dirty="0">
                <a:solidFill>
                  <a:srgbClr val="1F2937"/>
                </a:solidFill>
                <a:latin typeface="Calibri"/>
              </a:rPr>
              <a:t>• Net profit impact by offer after discounts, </a:t>
            </a:r>
            <a:r>
              <a:rPr sz="1120" b="0" i="0" dirty="0" err="1">
                <a:solidFill>
                  <a:srgbClr val="1F2937"/>
                </a:solidFill>
                <a:latin typeface="Calibri"/>
              </a:rPr>
              <a:t>cannibalisation</a:t>
            </a:r>
            <a:r>
              <a:rPr sz="1120" b="0" i="0" dirty="0">
                <a:solidFill>
                  <a:srgbClr val="1F2937"/>
                </a:solidFill>
                <a:latin typeface="Calibri"/>
              </a:rPr>
              <a:t> and execution costs.</a:t>
            </a:r>
          </a:p>
        </p:txBody>
      </p:sp>
      <p:sp>
        <p:nvSpPr>
          <p:cNvPr id="25" name="Rounded Rectangle 24"/>
          <p:cNvSpPr/>
          <p:nvPr/>
        </p:nvSpPr>
        <p:spPr>
          <a:xfrm>
            <a:off x="502920" y="5650992"/>
            <a:ext cx="11183112" cy="548640"/>
          </a:xfrm>
          <a:prstGeom prst="roundRect">
            <a:avLst>
              <a:gd name="adj" fmla="val 8000"/>
            </a:avLst>
          </a:prstGeom>
          <a:solidFill>
            <a:srgbClr val="0B1F3A"/>
          </a:solidFill>
          <a:ln>
            <a:solidFill>
              <a:srgbClr val="0B1F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3232" y="5769864"/>
            <a:ext cx="10789920" cy="274320"/>
          </a:xfrm>
          <a:prstGeom prst="rect">
            <a:avLst/>
          </a:prstGeom>
          <a:noFill/>
        </p:spPr>
        <p:txBody>
          <a:bodyPr wrap="square" lIns="45720" rIns="45720" anchor="t">
            <a:spAutoFit/>
          </a:bodyPr>
          <a:lstStyle/>
          <a:p>
            <a:pPr algn="l">
              <a:spcAft>
                <a:spcPts val="200"/>
              </a:spcAft>
            </a:pPr>
            <a:r>
              <a:rPr sz="1200" b="1" i="0">
                <a:solidFill>
                  <a:srgbClr val="FFFFFF"/>
                </a:solidFill>
                <a:latin typeface="Calibri"/>
              </a:rPr>
              <a:t>Conclusion: public evidence supports a pricing-return diagnostic; it does not prove that pricing alone caused margin pressure.</a:t>
            </a:r>
          </a:p>
        </p:txBody>
      </p:sp>
      <p:sp>
        <p:nvSpPr>
          <p:cNvPr id="28" name="TextBox 27"/>
          <p:cNvSpPr txBox="1"/>
          <p:nvPr/>
        </p:nvSpPr>
        <p:spPr>
          <a:xfrm>
            <a:off x="11064240" y="6473952"/>
            <a:ext cx="658368" cy="201168"/>
          </a:xfrm>
          <a:prstGeom prst="rect">
            <a:avLst/>
          </a:prstGeom>
          <a:noFill/>
        </p:spPr>
        <p:txBody>
          <a:bodyPr wrap="square" lIns="45720" rIns="45720" anchor="t">
            <a:spAutoFit/>
          </a:bodyPr>
          <a:lstStyle/>
          <a:p>
            <a:pPr algn="r">
              <a:spcAft>
                <a:spcPts val="200"/>
              </a:spcAft>
            </a:pPr>
            <a:r>
              <a:rPr sz="900">
                <a:solidFill>
                  <a:srgbClr val="6B7280"/>
                </a:solidFill>
                <a:latin typeface="Calibri"/>
              </a:rPr>
              <a:t>7 | 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475488" y="457200"/>
            <a:ext cx="11155680" cy="475488"/>
          </a:xfrm>
          <a:prstGeom prst="rect">
            <a:avLst/>
          </a:prstGeom>
          <a:noFill/>
        </p:spPr>
        <p:txBody>
          <a:bodyPr wrap="square" lIns="45720" rIns="45720" anchor="t">
            <a:spAutoFit/>
          </a:bodyPr>
          <a:lstStyle/>
          <a:p>
            <a:pPr algn="l">
              <a:spcAft>
                <a:spcPts val="200"/>
              </a:spcAft>
            </a:pPr>
            <a:r>
              <a:rPr sz="2500" b="1" i="0">
                <a:solidFill>
                  <a:srgbClr val="0B1F3A"/>
                </a:solidFill>
                <a:latin typeface="Calibri"/>
              </a:rPr>
              <a:t>What Tesco would need to decide where price investment pays back</a:t>
            </a:r>
          </a:p>
        </p:txBody>
      </p:sp>
      <p:sp>
        <p:nvSpPr>
          <p:cNvPr id="5" name="Rectangle 4"/>
          <p:cNvSpPr/>
          <p:nvPr/>
        </p:nvSpPr>
        <p:spPr>
          <a:xfrm>
            <a:off x="502920" y="1417320"/>
            <a:ext cx="2057400" cy="475488"/>
          </a:xfrm>
          <a:prstGeom prst="rect">
            <a:avLst/>
          </a:prstGeom>
          <a:solidFill>
            <a:srgbClr val="0B1F3A"/>
          </a:solidFill>
          <a:ln>
            <a:solidFill>
              <a:srgbClr val="0B1F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2648" y="1517904"/>
            <a:ext cx="1837943" cy="256032"/>
          </a:xfrm>
          <a:prstGeom prst="rect">
            <a:avLst/>
          </a:prstGeom>
          <a:noFill/>
        </p:spPr>
        <p:txBody>
          <a:bodyPr wrap="square" lIns="45720" rIns="45720" anchor="t">
            <a:spAutoFit/>
          </a:bodyPr>
          <a:lstStyle/>
          <a:p>
            <a:pPr algn="l">
              <a:spcAft>
                <a:spcPts val="200"/>
              </a:spcAft>
            </a:pPr>
            <a:r>
              <a:rPr sz="1000" b="1" i="0">
                <a:solidFill>
                  <a:srgbClr val="FFFFFF"/>
                </a:solidFill>
                <a:latin typeface="Calibri"/>
              </a:rPr>
              <a:t>DIAGNOSTIC LENS</a:t>
            </a:r>
          </a:p>
        </p:txBody>
      </p:sp>
      <p:sp>
        <p:nvSpPr>
          <p:cNvPr id="7" name="Rectangle 6"/>
          <p:cNvSpPr/>
          <p:nvPr/>
        </p:nvSpPr>
        <p:spPr>
          <a:xfrm>
            <a:off x="2560320" y="1417320"/>
            <a:ext cx="4709160" cy="475488"/>
          </a:xfrm>
          <a:prstGeom prst="rect">
            <a:avLst/>
          </a:prstGeom>
          <a:solidFill>
            <a:srgbClr val="0B1F3A"/>
          </a:solidFill>
          <a:ln>
            <a:solidFill>
              <a:srgbClr val="0B1F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670048" y="1517904"/>
            <a:ext cx="4489704" cy="256032"/>
          </a:xfrm>
          <a:prstGeom prst="rect">
            <a:avLst/>
          </a:prstGeom>
          <a:noFill/>
        </p:spPr>
        <p:txBody>
          <a:bodyPr wrap="square" lIns="45720" rIns="45720" anchor="t">
            <a:spAutoFit/>
          </a:bodyPr>
          <a:lstStyle/>
          <a:p>
            <a:pPr algn="l">
              <a:spcAft>
                <a:spcPts val="200"/>
              </a:spcAft>
            </a:pPr>
            <a:r>
              <a:rPr sz="1000" b="1" i="0">
                <a:solidFill>
                  <a:srgbClr val="FFFFFF"/>
                </a:solidFill>
                <a:latin typeface="Calibri"/>
              </a:rPr>
              <a:t>Competitor prices on matched products; customer price-perception data by segment.</a:t>
            </a:r>
          </a:p>
        </p:txBody>
      </p:sp>
      <p:sp>
        <p:nvSpPr>
          <p:cNvPr id="9" name="Rectangle 8"/>
          <p:cNvSpPr/>
          <p:nvPr/>
        </p:nvSpPr>
        <p:spPr>
          <a:xfrm>
            <a:off x="7269480" y="1417320"/>
            <a:ext cx="4416552" cy="475488"/>
          </a:xfrm>
          <a:prstGeom prst="rect">
            <a:avLst/>
          </a:prstGeom>
          <a:solidFill>
            <a:srgbClr val="0B1F3A"/>
          </a:solidFill>
          <a:ln>
            <a:solidFill>
              <a:srgbClr val="0B1F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79208" y="1517904"/>
            <a:ext cx="4197096" cy="256032"/>
          </a:xfrm>
          <a:prstGeom prst="rect">
            <a:avLst/>
          </a:prstGeom>
          <a:noFill/>
        </p:spPr>
        <p:txBody>
          <a:bodyPr wrap="square" lIns="45720" rIns="45720" anchor="t">
            <a:spAutoFit/>
          </a:bodyPr>
          <a:lstStyle/>
          <a:p>
            <a:pPr algn="l">
              <a:spcAft>
                <a:spcPts val="200"/>
              </a:spcAft>
            </a:pPr>
            <a:r>
              <a:rPr sz="1000" b="1" i="0">
                <a:solidFill>
                  <a:srgbClr val="FFFFFF"/>
                </a:solidFill>
                <a:latin typeface="Calibri"/>
              </a:rPr>
              <a:t>DECISION IT ENABLES</a:t>
            </a:r>
          </a:p>
        </p:txBody>
      </p:sp>
      <p:sp>
        <p:nvSpPr>
          <p:cNvPr id="11" name="Rectangle 10"/>
          <p:cNvSpPr/>
          <p:nvPr/>
        </p:nvSpPr>
        <p:spPr>
          <a:xfrm>
            <a:off x="502920" y="1892808"/>
            <a:ext cx="2057400" cy="896112"/>
          </a:xfrm>
          <a:prstGeom prst="rect">
            <a:avLst/>
          </a:prstGeom>
          <a:solidFill>
            <a:srgbClr val="F8F7F4"/>
          </a:solidFill>
          <a:ln>
            <a:solidFill>
              <a:srgbClr val="E1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2648" y="2084832"/>
            <a:ext cx="1837943" cy="749808"/>
          </a:xfrm>
          <a:prstGeom prst="rect">
            <a:avLst/>
          </a:prstGeom>
          <a:noFill/>
        </p:spPr>
        <p:txBody>
          <a:bodyPr wrap="square" lIns="22860" tIns="22860" rIns="22860" bIns="22860" anchor="t">
            <a:spAutoFit/>
          </a:bodyPr>
          <a:lstStyle/>
          <a:p>
            <a:pPr algn="l">
              <a:spcAft>
                <a:spcPts val="200"/>
              </a:spcAft>
            </a:pPr>
            <a:r>
              <a:rPr sz="1019" b="1" i="0">
                <a:solidFill>
                  <a:srgbClr val="0B1F3A"/>
                </a:solidFill>
                <a:latin typeface="Calibri"/>
              </a:rPr>
              <a:t>Price perception</a:t>
            </a:r>
          </a:p>
        </p:txBody>
      </p:sp>
      <p:sp>
        <p:nvSpPr>
          <p:cNvPr id="13" name="Rectangle 12"/>
          <p:cNvSpPr/>
          <p:nvPr/>
        </p:nvSpPr>
        <p:spPr>
          <a:xfrm>
            <a:off x="2560320" y="1892808"/>
            <a:ext cx="4709160" cy="896112"/>
          </a:xfrm>
          <a:prstGeom prst="rect">
            <a:avLst/>
          </a:prstGeom>
          <a:solidFill>
            <a:srgbClr val="F8F7F4"/>
          </a:solidFill>
          <a:ln>
            <a:solidFill>
              <a:srgbClr val="E1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670048" y="1984248"/>
            <a:ext cx="4489704" cy="749808"/>
          </a:xfrm>
          <a:prstGeom prst="rect">
            <a:avLst/>
          </a:prstGeom>
          <a:noFill/>
        </p:spPr>
        <p:txBody>
          <a:bodyPr wrap="square" lIns="22860" tIns="22860" rIns="22860" bIns="22860" anchor="t">
            <a:spAutoFit/>
          </a:bodyPr>
          <a:lstStyle/>
          <a:p>
            <a:pPr algn="l">
              <a:spcAft>
                <a:spcPts val="200"/>
              </a:spcAft>
            </a:pPr>
            <a:r>
              <a:rPr sz="1019" b="0" i="0">
                <a:solidFill>
                  <a:srgbClr val="1F2937"/>
                </a:solidFill>
                <a:latin typeface="Calibri"/>
              </a:rPr>
              <a:t>Which products need investment to defend value perception?</a:t>
            </a:r>
          </a:p>
        </p:txBody>
      </p:sp>
      <p:sp>
        <p:nvSpPr>
          <p:cNvPr id="15" name="Rectangle 14"/>
          <p:cNvSpPr/>
          <p:nvPr/>
        </p:nvSpPr>
        <p:spPr>
          <a:xfrm>
            <a:off x="7269480" y="1892808"/>
            <a:ext cx="4416552" cy="896112"/>
          </a:xfrm>
          <a:prstGeom prst="rect">
            <a:avLst/>
          </a:prstGeom>
          <a:solidFill>
            <a:srgbClr val="F8F7F4"/>
          </a:solidFill>
          <a:ln>
            <a:solidFill>
              <a:srgbClr val="E1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79208" y="1984248"/>
            <a:ext cx="4197096" cy="749808"/>
          </a:xfrm>
          <a:prstGeom prst="rect">
            <a:avLst/>
          </a:prstGeom>
          <a:noFill/>
        </p:spPr>
        <p:txBody>
          <a:bodyPr wrap="square" lIns="22860" tIns="22860" rIns="22860" bIns="22860" anchor="t">
            <a:spAutoFit/>
          </a:bodyPr>
          <a:lstStyle/>
          <a:p>
            <a:pPr algn="l">
              <a:spcAft>
                <a:spcPts val="200"/>
              </a:spcAft>
            </a:pPr>
            <a:r>
              <a:rPr sz="1019" b="0" i="0">
                <a:solidFill>
                  <a:srgbClr val="1F2937"/>
                </a:solidFill>
                <a:latin typeface="Calibri"/>
              </a:rPr>
              <a:t>Which items genuinely need price investment to defend value perception?</a:t>
            </a:r>
          </a:p>
        </p:txBody>
      </p:sp>
      <p:sp>
        <p:nvSpPr>
          <p:cNvPr id="17" name="Rectangle 16"/>
          <p:cNvSpPr/>
          <p:nvPr/>
        </p:nvSpPr>
        <p:spPr>
          <a:xfrm>
            <a:off x="502920" y="2788920"/>
            <a:ext cx="2057400" cy="896112"/>
          </a:xfrm>
          <a:prstGeom prst="rect">
            <a:avLst/>
          </a:prstGeom>
          <a:solidFill>
            <a:srgbClr val="FFFFFF"/>
          </a:solidFill>
          <a:ln>
            <a:solidFill>
              <a:srgbClr val="E1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2648" y="2880360"/>
            <a:ext cx="1837943" cy="749808"/>
          </a:xfrm>
          <a:prstGeom prst="rect">
            <a:avLst/>
          </a:prstGeom>
          <a:noFill/>
        </p:spPr>
        <p:txBody>
          <a:bodyPr wrap="square" lIns="22860" tIns="22860" rIns="22860" bIns="22860" anchor="t">
            <a:spAutoFit/>
          </a:bodyPr>
          <a:lstStyle/>
          <a:p>
            <a:pPr algn="l">
              <a:spcAft>
                <a:spcPts val="200"/>
              </a:spcAft>
            </a:pPr>
            <a:r>
              <a:rPr sz="1019" b="1" i="0">
                <a:solidFill>
                  <a:srgbClr val="0B1F3A"/>
                </a:solidFill>
                <a:latin typeface="Calibri"/>
              </a:rPr>
              <a:t>Incremental demand</a:t>
            </a:r>
          </a:p>
        </p:txBody>
      </p:sp>
      <p:sp>
        <p:nvSpPr>
          <p:cNvPr id="19" name="Rectangle 18"/>
          <p:cNvSpPr/>
          <p:nvPr/>
        </p:nvSpPr>
        <p:spPr>
          <a:xfrm>
            <a:off x="2560320" y="2788920"/>
            <a:ext cx="4709160" cy="896112"/>
          </a:xfrm>
          <a:prstGeom prst="rect">
            <a:avLst/>
          </a:prstGeom>
          <a:solidFill>
            <a:srgbClr val="FFFFFF"/>
          </a:solidFill>
          <a:ln>
            <a:solidFill>
              <a:srgbClr val="E1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670048" y="2880360"/>
            <a:ext cx="4489704" cy="749808"/>
          </a:xfrm>
          <a:prstGeom prst="rect">
            <a:avLst/>
          </a:prstGeom>
          <a:noFill/>
        </p:spPr>
        <p:txBody>
          <a:bodyPr wrap="square" lIns="22860" tIns="22860" rIns="22860" bIns="22860" anchor="t">
            <a:spAutoFit/>
          </a:bodyPr>
          <a:lstStyle/>
          <a:p>
            <a:pPr algn="l">
              <a:spcAft>
                <a:spcPts val="200"/>
              </a:spcAft>
            </a:pPr>
            <a:r>
              <a:rPr sz="1019" b="0" i="0">
                <a:solidFill>
                  <a:srgbClr val="1F2937"/>
                </a:solidFill>
                <a:latin typeface="Calibri"/>
              </a:rPr>
              <a:t>Weekly product/store units, test and control stores, repeat rate and basket effects.</a:t>
            </a:r>
          </a:p>
        </p:txBody>
      </p:sp>
      <p:sp>
        <p:nvSpPr>
          <p:cNvPr id="21" name="Rectangle 20"/>
          <p:cNvSpPr/>
          <p:nvPr/>
        </p:nvSpPr>
        <p:spPr>
          <a:xfrm>
            <a:off x="7269480" y="2788920"/>
            <a:ext cx="4416552" cy="896112"/>
          </a:xfrm>
          <a:prstGeom prst="rect">
            <a:avLst/>
          </a:prstGeom>
          <a:solidFill>
            <a:srgbClr val="FFFFFF"/>
          </a:solidFill>
          <a:ln>
            <a:solidFill>
              <a:srgbClr val="E1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79208" y="2880360"/>
            <a:ext cx="4197096" cy="749808"/>
          </a:xfrm>
          <a:prstGeom prst="rect">
            <a:avLst/>
          </a:prstGeom>
          <a:noFill/>
        </p:spPr>
        <p:txBody>
          <a:bodyPr wrap="square" lIns="22860" tIns="22860" rIns="22860" bIns="22860" anchor="t">
            <a:spAutoFit/>
          </a:bodyPr>
          <a:lstStyle/>
          <a:p>
            <a:pPr algn="l">
              <a:spcAft>
                <a:spcPts val="200"/>
              </a:spcAft>
            </a:pPr>
            <a:r>
              <a:rPr sz="1019" b="0" i="0">
                <a:solidFill>
                  <a:srgbClr val="1F2937"/>
                </a:solidFill>
                <a:latin typeface="Calibri"/>
              </a:rPr>
              <a:t>Did the offer create incremental demand or subsidise existing purchases?</a:t>
            </a:r>
          </a:p>
        </p:txBody>
      </p:sp>
      <p:sp>
        <p:nvSpPr>
          <p:cNvPr id="23" name="Rectangle 22"/>
          <p:cNvSpPr/>
          <p:nvPr/>
        </p:nvSpPr>
        <p:spPr>
          <a:xfrm>
            <a:off x="502920" y="3685032"/>
            <a:ext cx="2057400" cy="896112"/>
          </a:xfrm>
          <a:prstGeom prst="rect">
            <a:avLst/>
          </a:prstGeom>
          <a:solidFill>
            <a:srgbClr val="F8F7F4"/>
          </a:solidFill>
          <a:ln>
            <a:solidFill>
              <a:srgbClr val="E1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12648" y="3776472"/>
            <a:ext cx="1837943" cy="749808"/>
          </a:xfrm>
          <a:prstGeom prst="rect">
            <a:avLst/>
          </a:prstGeom>
          <a:noFill/>
        </p:spPr>
        <p:txBody>
          <a:bodyPr wrap="square" lIns="22860" tIns="22860" rIns="22860" bIns="22860" anchor="t">
            <a:spAutoFit/>
          </a:bodyPr>
          <a:lstStyle/>
          <a:p>
            <a:pPr algn="l">
              <a:spcAft>
                <a:spcPts val="200"/>
              </a:spcAft>
            </a:pPr>
            <a:r>
              <a:rPr sz="1019" b="1" i="0">
                <a:solidFill>
                  <a:srgbClr val="0B1F3A"/>
                </a:solidFill>
                <a:latin typeface="Calibri"/>
              </a:rPr>
              <a:t>Contribution economics</a:t>
            </a:r>
          </a:p>
        </p:txBody>
      </p:sp>
      <p:sp>
        <p:nvSpPr>
          <p:cNvPr id="25" name="Rectangle 24"/>
          <p:cNvSpPr/>
          <p:nvPr/>
        </p:nvSpPr>
        <p:spPr>
          <a:xfrm>
            <a:off x="2560320" y="3685032"/>
            <a:ext cx="4709160" cy="896112"/>
          </a:xfrm>
          <a:prstGeom prst="rect">
            <a:avLst/>
          </a:prstGeom>
          <a:solidFill>
            <a:srgbClr val="F8F7F4"/>
          </a:solidFill>
          <a:ln>
            <a:solidFill>
              <a:srgbClr val="E1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670048" y="3776472"/>
            <a:ext cx="4489704" cy="749808"/>
          </a:xfrm>
          <a:prstGeom prst="rect">
            <a:avLst/>
          </a:prstGeom>
          <a:noFill/>
        </p:spPr>
        <p:txBody>
          <a:bodyPr wrap="square" lIns="22860" tIns="22860" rIns="22860" bIns="22860" anchor="t">
            <a:spAutoFit/>
          </a:bodyPr>
          <a:lstStyle/>
          <a:p>
            <a:pPr algn="l">
              <a:spcAft>
                <a:spcPts val="200"/>
              </a:spcAft>
            </a:pPr>
            <a:r>
              <a:rPr sz="1019" b="0" i="0">
                <a:solidFill>
                  <a:srgbClr val="1F2937"/>
                </a:solidFill>
                <a:latin typeface="Calibri"/>
              </a:rPr>
              <a:t>Net price after discount, unit cost, waste/markdown, fulfilment and cannibalisation effects.</a:t>
            </a:r>
          </a:p>
        </p:txBody>
      </p:sp>
      <p:sp>
        <p:nvSpPr>
          <p:cNvPr id="27" name="Rectangle 26"/>
          <p:cNvSpPr/>
          <p:nvPr/>
        </p:nvSpPr>
        <p:spPr>
          <a:xfrm>
            <a:off x="7269480" y="3685032"/>
            <a:ext cx="4416552" cy="896112"/>
          </a:xfrm>
          <a:prstGeom prst="rect">
            <a:avLst/>
          </a:prstGeom>
          <a:solidFill>
            <a:srgbClr val="F8F7F4"/>
          </a:solidFill>
          <a:ln>
            <a:solidFill>
              <a:srgbClr val="E1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79208" y="3776472"/>
            <a:ext cx="4197096" cy="749808"/>
          </a:xfrm>
          <a:prstGeom prst="rect">
            <a:avLst/>
          </a:prstGeom>
          <a:noFill/>
        </p:spPr>
        <p:txBody>
          <a:bodyPr wrap="square" lIns="22860" tIns="22860" rIns="22860" bIns="22860" anchor="t">
            <a:spAutoFit/>
          </a:bodyPr>
          <a:lstStyle/>
          <a:p>
            <a:pPr algn="l">
              <a:spcAft>
                <a:spcPts val="200"/>
              </a:spcAft>
            </a:pPr>
            <a:r>
              <a:rPr sz="1019" b="0" i="0">
                <a:solidFill>
                  <a:srgbClr val="1F2937"/>
                </a:solidFill>
                <a:latin typeface="Calibri"/>
              </a:rPr>
              <a:t>Does incremental contribution cover lost margin and offer costs?</a:t>
            </a:r>
          </a:p>
        </p:txBody>
      </p:sp>
      <p:sp>
        <p:nvSpPr>
          <p:cNvPr id="29" name="Rectangle 28"/>
          <p:cNvSpPr/>
          <p:nvPr/>
        </p:nvSpPr>
        <p:spPr>
          <a:xfrm>
            <a:off x="502920" y="4581144"/>
            <a:ext cx="2057400" cy="896112"/>
          </a:xfrm>
          <a:prstGeom prst="rect">
            <a:avLst/>
          </a:prstGeom>
          <a:solidFill>
            <a:srgbClr val="FFFFFF"/>
          </a:solidFill>
          <a:ln>
            <a:solidFill>
              <a:srgbClr val="E1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12648" y="4672583"/>
            <a:ext cx="1837943" cy="749808"/>
          </a:xfrm>
          <a:prstGeom prst="rect">
            <a:avLst/>
          </a:prstGeom>
          <a:noFill/>
        </p:spPr>
        <p:txBody>
          <a:bodyPr wrap="square" lIns="22860" tIns="22860" rIns="22860" bIns="22860" anchor="t">
            <a:spAutoFit/>
          </a:bodyPr>
          <a:lstStyle/>
          <a:p>
            <a:pPr algn="l">
              <a:spcAft>
                <a:spcPts val="200"/>
              </a:spcAft>
            </a:pPr>
            <a:r>
              <a:rPr sz="1019" b="1" i="0">
                <a:solidFill>
                  <a:srgbClr val="0B1F3A"/>
                </a:solidFill>
                <a:latin typeface="Calibri"/>
              </a:rPr>
              <a:t>Funding capacity</a:t>
            </a:r>
          </a:p>
        </p:txBody>
      </p:sp>
      <p:sp>
        <p:nvSpPr>
          <p:cNvPr id="31" name="Rectangle 30"/>
          <p:cNvSpPr/>
          <p:nvPr/>
        </p:nvSpPr>
        <p:spPr>
          <a:xfrm>
            <a:off x="2560320" y="4581144"/>
            <a:ext cx="4709160" cy="896112"/>
          </a:xfrm>
          <a:prstGeom prst="rect">
            <a:avLst/>
          </a:prstGeom>
          <a:solidFill>
            <a:srgbClr val="FFFFFF"/>
          </a:solidFill>
          <a:ln>
            <a:solidFill>
              <a:srgbClr val="E1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670048" y="4672583"/>
            <a:ext cx="4489704" cy="749808"/>
          </a:xfrm>
          <a:prstGeom prst="rect">
            <a:avLst/>
          </a:prstGeom>
          <a:noFill/>
        </p:spPr>
        <p:txBody>
          <a:bodyPr wrap="square" lIns="22860" tIns="22860" rIns="22860" bIns="22860" anchor="t">
            <a:spAutoFit/>
          </a:bodyPr>
          <a:lstStyle/>
          <a:p>
            <a:pPr algn="l">
              <a:spcAft>
                <a:spcPts val="200"/>
              </a:spcAft>
            </a:pPr>
            <a:r>
              <a:rPr sz="1019" b="0" i="0">
                <a:solidFill>
                  <a:srgbClr val="1F2937"/>
                </a:solidFill>
                <a:latin typeface="Calibri"/>
              </a:rPr>
              <a:t>Savings achieved versus plan, cost trends and costs required to realise savings.</a:t>
            </a:r>
          </a:p>
        </p:txBody>
      </p:sp>
      <p:sp>
        <p:nvSpPr>
          <p:cNvPr id="33" name="Rectangle 32"/>
          <p:cNvSpPr/>
          <p:nvPr/>
        </p:nvSpPr>
        <p:spPr>
          <a:xfrm>
            <a:off x="7269480" y="4581144"/>
            <a:ext cx="4416552" cy="896112"/>
          </a:xfrm>
          <a:prstGeom prst="rect">
            <a:avLst/>
          </a:prstGeom>
          <a:solidFill>
            <a:srgbClr val="FFFFFF"/>
          </a:solidFill>
          <a:ln>
            <a:solidFill>
              <a:srgbClr val="E1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379208" y="4672583"/>
            <a:ext cx="4197096" cy="749808"/>
          </a:xfrm>
          <a:prstGeom prst="rect">
            <a:avLst/>
          </a:prstGeom>
          <a:noFill/>
        </p:spPr>
        <p:txBody>
          <a:bodyPr wrap="square" lIns="22860" tIns="22860" rIns="22860" bIns="22860" anchor="t">
            <a:spAutoFit/>
          </a:bodyPr>
          <a:lstStyle/>
          <a:p>
            <a:pPr algn="l">
              <a:spcAft>
                <a:spcPts val="200"/>
              </a:spcAft>
            </a:pPr>
            <a:r>
              <a:rPr sz="1019" b="0" i="0">
                <a:solidFill>
                  <a:srgbClr val="1F2937"/>
                </a:solidFill>
                <a:latin typeface="Calibri"/>
              </a:rPr>
              <a:t>How much investment can be funded without relying on unverified savings?</a:t>
            </a:r>
          </a:p>
        </p:txBody>
      </p:sp>
      <p:sp>
        <p:nvSpPr>
          <p:cNvPr id="35" name="Rounded Rectangle 34"/>
          <p:cNvSpPr/>
          <p:nvPr/>
        </p:nvSpPr>
        <p:spPr>
          <a:xfrm>
            <a:off x="502920" y="5650992"/>
            <a:ext cx="11183112" cy="530352"/>
          </a:xfrm>
          <a:prstGeom prst="roundRect">
            <a:avLst>
              <a:gd name="adj" fmla="val 8000"/>
            </a:avLst>
          </a:prstGeom>
          <a:solidFill>
            <a:srgbClr val="FF0000"/>
          </a:solidFill>
          <a:ln>
            <a:solidFill>
              <a:srgbClr val="FEF3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04088" y="5760720"/>
            <a:ext cx="10789920" cy="274320"/>
          </a:xfrm>
          <a:prstGeom prst="rect">
            <a:avLst/>
          </a:prstGeom>
          <a:noFill/>
        </p:spPr>
        <p:txBody>
          <a:bodyPr wrap="square" lIns="45720" rIns="45720" anchor="t">
            <a:spAutoFit/>
          </a:bodyPr>
          <a:lstStyle/>
          <a:p>
            <a:pPr algn="l">
              <a:spcAft>
                <a:spcPts val="200"/>
              </a:spcAft>
            </a:pPr>
            <a:r>
              <a:rPr sz="1170" b="1" i="0">
                <a:solidFill>
                  <a:srgbClr val="0B1F3A"/>
                </a:solidFill>
                <a:latin typeface="Calibri"/>
              </a:rPr>
              <a:t>Decision rule: proceed only when measured incremental contribution and evidenced strategic benefits justify the full net cost.</a:t>
            </a:r>
          </a:p>
        </p:txBody>
      </p:sp>
      <p:sp>
        <p:nvSpPr>
          <p:cNvPr id="38" name="TextBox 37"/>
          <p:cNvSpPr txBox="1"/>
          <p:nvPr/>
        </p:nvSpPr>
        <p:spPr>
          <a:xfrm>
            <a:off x="11064240" y="6473952"/>
            <a:ext cx="658368" cy="201168"/>
          </a:xfrm>
          <a:prstGeom prst="rect">
            <a:avLst/>
          </a:prstGeom>
          <a:noFill/>
        </p:spPr>
        <p:txBody>
          <a:bodyPr wrap="square" lIns="45720" rIns="45720" anchor="t">
            <a:spAutoFit/>
          </a:bodyPr>
          <a:lstStyle/>
          <a:p>
            <a:pPr algn="r">
              <a:spcAft>
                <a:spcPts val="200"/>
              </a:spcAft>
            </a:pPr>
            <a:r>
              <a:rPr sz="900">
                <a:solidFill>
                  <a:srgbClr val="6B7280"/>
                </a:solidFill>
                <a:latin typeface="Calibri"/>
              </a:rPr>
              <a:t>8 | 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475488" y="457200"/>
            <a:ext cx="11155680" cy="475488"/>
          </a:xfrm>
          <a:prstGeom prst="rect">
            <a:avLst/>
          </a:prstGeom>
          <a:noFill/>
        </p:spPr>
        <p:txBody>
          <a:bodyPr wrap="square" lIns="45720" rIns="45720" anchor="t">
            <a:spAutoFit/>
          </a:bodyPr>
          <a:lstStyle/>
          <a:p>
            <a:pPr algn="l">
              <a:spcAft>
                <a:spcPts val="200"/>
              </a:spcAft>
            </a:pPr>
            <a:r>
              <a:rPr sz="2500" b="1" i="0">
                <a:solidFill>
                  <a:srgbClr val="0B1F3A"/>
                </a:solidFill>
                <a:latin typeface="Calibri"/>
              </a:rPr>
              <a:t>Illustrative pricing model and pilot decision</a:t>
            </a:r>
          </a:p>
        </p:txBody>
      </p:sp>
      <p:sp>
        <p:nvSpPr>
          <p:cNvPr id="5" name="Rounded Rectangle 4"/>
          <p:cNvSpPr/>
          <p:nvPr/>
        </p:nvSpPr>
        <p:spPr>
          <a:xfrm>
            <a:off x="502920" y="1389888"/>
            <a:ext cx="11183112" cy="1188720"/>
          </a:xfrm>
          <a:prstGeom prst="roundRect">
            <a:avLst>
              <a:gd name="adj" fmla="val 8000"/>
            </a:avLst>
          </a:prstGeom>
          <a:solidFill>
            <a:srgbClr val="002060"/>
          </a:solidFill>
          <a:ln>
            <a:solidFill>
              <a:srgbClr val="E1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1536192"/>
            <a:ext cx="3337560" cy="246221"/>
          </a:xfrm>
          <a:prstGeom prst="rect">
            <a:avLst/>
          </a:prstGeom>
          <a:noFill/>
        </p:spPr>
        <p:txBody>
          <a:bodyPr wrap="square" lIns="45720" rIns="45720" anchor="t">
            <a:spAutoFit/>
          </a:bodyPr>
          <a:lstStyle/>
          <a:p>
            <a:pPr algn="l">
              <a:spcAft>
                <a:spcPts val="200"/>
              </a:spcAft>
            </a:pPr>
            <a:r>
              <a:rPr sz="1000" b="1" i="0" dirty="0">
                <a:solidFill>
                  <a:schemeClr val="bg1"/>
                </a:solidFill>
                <a:latin typeface="Calibri"/>
              </a:rPr>
              <a:t>BEFORE</a:t>
            </a:r>
          </a:p>
        </p:txBody>
      </p:sp>
      <p:sp>
        <p:nvSpPr>
          <p:cNvPr id="7" name="TextBox 6"/>
          <p:cNvSpPr txBox="1"/>
          <p:nvPr/>
        </p:nvSpPr>
        <p:spPr>
          <a:xfrm>
            <a:off x="713232" y="1819656"/>
            <a:ext cx="3337560" cy="292388"/>
          </a:xfrm>
          <a:prstGeom prst="rect">
            <a:avLst/>
          </a:prstGeom>
          <a:noFill/>
        </p:spPr>
        <p:txBody>
          <a:bodyPr wrap="square" lIns="45720" rIns="45720" anchor="t">
            <a:spAutoFit/>
          </a:bodyPr>
          <a:lstStyle/>
          <a:p>
            <a:pPr algn="l">
              <a:spcAft>
                <a:spcPts val="200"/>
              </a:spcAft>
            </a:pPr>
            <a:r>
              <a:rPr sz="1300" b="1" i="0" dirty="0">
                <a:solidFill>
                  <a:schemeClr val="bg1"/>
                </a:solidFill>
                <a:latin typeface="Calibri"/>
              </a:rPr>
              <a:t>£1.00 price − £0.70 cost</a:t>
            </a:r>
          </a:p>
        </p:txBody>
      </p:sp>
      <p:sp>
        <p:nvSpPr>
          <p:cNvPr id="8" name="TextBox 7"/>
          <p:cNvSpPr txBox="1"/>
          <p:nvPr/>
        </p:nvSpPr>
        <p:spPr>
          <a:xfrm>
            <a:off x="713232" y="2112264"/>
            <a:ext cx="3337560" cy="238527"/>
          </a:xfrm>
          <a:prstGeom prst="rect">
            <a:avLst/>
          </a:prstGeom>
          <a:noFill/>
        </p:spPr>
        <p:txBody>
          <a:bodyPr wrap="square" lIns="45720" rIns="45720" anchor="t">
            <a:spAutoFit/>
          </a:bodyPr>
          <a:lstStyle/>
          <a:p>
            <a:pPr algn="l">
              <a:spcAft>
                <a:spcPts val="200"/>
              </a:spcAft>
            </a:pPr>
            <a:r>
              <a:rPr sz="950" b="0" i="0" dirty="0">
                <a:solidFill>
                  <a:schemeClr val="bg1"/>
                </a:solidFill>
                <a:latin typeface="Calibri"/>
              </a:rPr>
              <a:t>£0.30 contribution / unit</a:t>
            </a:r>
          </a:p>
        </p:txBody>
      </p:sp>
      <p:sp>
        <p:nvSpPr>
          <p:cNvPr id="9" name="TextBox 8"/>
          <p:cNvSpPr txBox="1"/>
          <p:nvPr/>
        </p:nvSpPr>
        <p:spPr>
          <a:xfrm>
            <a:off x="4398264" y="1536192"/>
            <a:ext cx="3337560" cy="246221"/>
          </a:xfrm>
          <a:prstGeom prst="rect">
            <a:avLst/>
          </a:prstGeom>
          <a:noFill/>
        </p:spPr>
        <p:txBody>
          <a:bodyPr wrap="square" lIns="45720" rIns="45720" anchor="t">
            <a:spAutoFit/>
          </a:bodyPr>
          <a:lstStyle/>
          <a:p>
            <a:pPr algn="l">
              <a:spcAft>
                <a:spcPts val="200"/>
              </a:spcAft>
            </a:pPr>
            <a:r>
              <a:rPr sz="1000" b="1" i="0" dirty="0">
                <a:solidFill>
                  <a:schemeClr val="bg1"/>
                </a:solidFill>
                <a:latin typeface="Calibri"/>
              </a:rPr>
              <a:t>AFTER 5% CUT</a:t>
            </a:r>
          </a:p>
        </p:txBody>
      </p:sp>
      <p:sp>
        <p:nvSpPr>
          <p:cNvPr id="10" name="TextBox 9"/>
          <p:cNvSpPr txBox="1"/>
          <p:nvPr/>
        </p:nvSpPr>
        <p:spPr>
          <a:xfrm>
            <a:off x="4398264" y="1819656"/>
            <a:ext cx="3337560" cy="292388"/>
          </a:xfrm>
          <a:prstGeom prst="rect">
            <a:avLst/>
          </a:prstGeom>
          <a:noFill/>
        </p:spPr>
        <p:txBody>
          <a:bodyPr wrap="square" lIns="45720" rIns="45720" anchor="t">
            <a:spAutoFit/>
          </a:bodyPr>
          <a:lstStyle/>
          <a:p>
            <a:pPr algn="l">
              <a:spcAft>
                <a:spcPts val="200"/>
              </a:spcAft>
            </a:pPr>
            <a:r>
              <a:rPr sz="1300" b="1" i="0" dirty="0">
                <a:solidFill>
                  <a:schemeClr val="bg1"/>
                </a:solidFill>
                <a:latin typeface="Calibri"/>
              </a:rPr>
              <a:t>£0.95 price − £0.70 cost</a:t>
            </a:r>
          </a:p>
        </p:txBody>
      </p:sp>
      <p:sp>
        <p:nvSpPr>
          <p:cNvPr id="11" name="TextBox 10"/>
          <p:cNvSpPr txBox="1"/>
          <p:nvPr/>
        </p:nvSpPr>
        <p:spPr>
          <a:xfrm>
            <a:off x="4398264" y="2112264"/>
            <a:ext cx="3337560" cy="238527"/>
          </a:xfrm>
          <a:prstGeom prst="rect">
            <a:avLst/>
          </a:prstGeom>
          <a:noFill/>
        </p:spPr>
        <p:txBody>
          <a:bodyPr wrap="square" lIns="45720" rIns="45720" anchor="t">
            <a:spAutoFit/>
          </a:bodyPr>
          <a:lstStyle/>
          <a:p>
            <a:pPr algn="l">
              <a:spcAft>
                <a:spcPts val="200"/>
              </a:spcAft>
            </a:pPr>
            <a:r>
              <a:rPr sz="950" b="0" i="0" dirty="0">
                <a:solidFill>
                  <a:schemeClr val="bg1"/>
                </a:solidFill>
                <a:latin typeface="Calibri"/>
              </a:rPr>
              <a:t>£0.25 contribution / unit</a:t>
            </a:r>
          </a:p>
        </p:txBody>
      </p:sp>
      <p:sp>
        <p:nvSpPr>
          <p:cNvPr id="12" name="TextBox 11"/>
          <p:cNvSpPr txBox="1"/>
          <p:nvPr/>
        </p:nvSpPr>
        <p:spPr>
          <a:xfrm>
            <a:off x="8083296" y="1536192"/>
            <a:ext cx="3337560" cy="246221"/>
          </a:xfrm>
          <a:prstGeom prst="rect">
            <a:avLst/>
          </a:prstGeom>
          <a:noFill/>
        </p:spPr>
        <p:txBody>
          <a:bodyPr wrap="square" lIns="45720" rIns="45720" anchor="t">
            <a:spAutoFit/>
          </a:bodyPr>
          <a:lstStyle/>
          <a:p>
            <a:pPr algn="l">
              <a:spcAft>
                <a:spcPts val="200"/>
              </a:spcAft>
            </a:pPr>
            <a:r>
              <a:rPr sz="1000" b="1" i="0" dirty="0">
                <a:solidFill>
                  <a:schemeClr val="bg1"/>
                </a:solidFill>
                <a:latin typeface="Calibri"/>
              </a:rPr>
              <a:t>BREAK-EVEN HURDLE</a:t>
            </a:r>
          </a:p>
        </p:txBody>
      </p:sp>
      <p:sp>
        <p:nvSpPr>
          <p:cNvPr id="13" name="TextBox 12"/>
          <p:cNvSpPr txBox="1"/>
          <p:nvPr/>
        </p:nvSpPr>
        <p:spPr>
          <a:xfrm>
            <a:off x="8083296" y="1819656"/>
            <a:ext cx="3337560" cy="292388"/>
          </a:xfrm>
          <a:prstGeom prst="rect">
            <a:avLst/>
          </a:prstGeom>
          <a:noFill/>
        </p:spPr>
        <p:txBody>
          <a:bodyPr wrap="square" lIns="45720" rIns="45720" anchor="t">
            <a:spAutoFit/>
          </a:bodyPr>
          <a:lstStyle/>
          <a:p>
            <a:pPr algn="l">
              <a:spcAft>
                <a:spcPts val="200"/>
              </a:spcAft>
            </a:pPr>
            <a:r>
              <a:rPr sz="1300" b="1" i="0" dirty="0">
                <a:solidFill>
                  <a:schemeClr val="bg1"/>
                </a:solidFill>
                <a:latin typeface="Calibri"/>
              </a:rPr>
              <a:t>1.20×</a:t>
            </a:r>
          </a:p>
        </p:txBody>
      </p:sp>
      <p:sp>
        <p:nvSpPr>
          <p:cNvPr id="14" name="TextBox 13"/>
          <p:cNvSpPr txBox="1"/>
          <p:nvPr/>
        </p:nvSpPr>
        <p:spPr>
          <a:xfrm>
            <a:off x="8083296" y="2112264"/>
            <a:ext cx="3337560" cy="384721"/>
          </a:xfrm>
          <a:prstGeom prst="rect">
            <a:avLst/>
          </a:prstGeom>
          <a:noFill/>
        </p:spPr>
        <p:txBody>
          <a:bodyPr wrap="square" lIns="45720" rIns="45720" anchor="t">
            <a:spAutoFit/>
          </a:bodyPr>
          <a:lstStyle/>
          <a:p>
            <a:pPr algn="l">
              <a:spcAft>
                <a:spcPts val="200"/>
              </a:spcAft>
            </a:pPr>
            <a:r>
              <a:rPr sz="950" b="0" i="0" dirty="0">
                <a:solidFill>
                  <a:schemeClr val="bg1"/>
                </a:solidFill>
                <a:latin typeface="Calibri"/>
              </a:rPr>
              <a:t>A 20% volume increase only maintains contribution before additional execution costs, </a:t>
            </a:r>
            <a:r>
              <a:rPr sz="950" b="0" i="0" dirty="0" err="1">
                <a:solidFill>
                  <a:schemeClr val="bg1"/>
                </a:solidFill>
                <a:latin typeface="Calibri"/>
              </a:rPr>
              <a:t>cannibalisation</a:t>
            </a:r>
            <a:r>
              <a:rPr sz="950" b="0" i="0" dirty="0">
                <a:solidFill>
                  <a:schemeClr val="bg1"/>
                </a:solidFill>
                <a:latin typeface="Calibri"/>
              </a:rPr>
              <a:t> or changes in cost.</a:t>
            </a:r>
          </a:p>
        </p:txBody>
      </p:sp>
      <p:sp>
        <p:nvSpPr>
          <p:cNvPr id="15" name="Rounded Rectangle 14"/>
          <p:cNvSpPr/>
          <p:nvPr/>
        </p:nvSpPr>
        <p:spPr>
          <a:xfrm>
            <a:off x="502920" y="2852928"/>
            <a:ext cx="3502152" cy="2395728"/>
          </a:xfrm>
          <a:prstGeom prst="roundRect">
            <a:avLst>
              <a:gd name="adj" fmla="val 8000"/>
            </a:avLst>
          </a:prstGeom>
          <a:solidFill>
            <a:srgbClr val="F8F7F4"/>
          </a:solidFill>
          <a:ln>
            <a:solidFill>
              <a:srgbClr val="E1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3026664"/>
            <a:ext cx="3182112" cy="274320"/>
          </a:xfrm>
          <a:prstGeom prst="rect">
            <a:avLst/>
          </a:prstGeom>
          <a:noFill/>
        </p:spPr>
        <p:txBody>
          <a:bodyPr wrap="square" lIns="45720" rIns="45720" anchor="t">
            <a:spAutoFit/>
          </a:bodyPr>
          <a:lstStyle/>
          <a:p>
            <a:pPr algn="l">
              <a:spcAft>
                <a:spcPts val="200"/>
              </a:spcAft>
            </a:pPr>
            <a:r>
              <a:rPr sz="1200" b="1" i="0">
                <a:solidFill>
                  <a:srgbClr val="0B1F3A"/>
                </a:solidFill>
                <a:latin typeface="Calibri"/>
              </a:rPr>
              <a:t>1 · DESIGN</a:t>
            </a:r>
          </a:p>
        </p:txBody>
      </p:sp>
      <p:sp>
        <p:nvSpPr>
          <p:cNvPr id="17" name="TextBox 16"/>
          <p:cNvSpPr txBox="1"/>
          <p:nvPr/>
        </p:nvSpPr>
        <p:spPr>
          <a:xfrm>
            <a:off x="658368" y="3401568"/>
            <a:ext cx="3182112" cy="822960"/>
          </a:xfrm>
          <a:prstGeom prst="rect">
            <a:avLst/>
          </a:prstGeom>
          <a:noFill/>
        </p:spPr>
        <p:txBody>
          <a:bodyPr wrap="square" lIns="45720" rIns="45720" anchor="t">
            <a:spAutoFit/>
          </a:bodyPr>
          <a:lstStyle/>
          <a:p>
            <a:pPr algn="l">
              <a:spcAft>
                <a:spcPts val="200"/>
              </a:spcAft>
            </a:pPr>
            <a:r>
              <a:rPr sz="1030" b="0" i="0">
                <a:solidFill>
                  <a:srgbClr val="1F2937"/>
                </a:solidFill>
                <a:latin typeface="Calibri"/>
              </a:rPr>
              <a:t>Select products using measured competitor gaps, customer evidence and category importance. Define test and matched control stores before launch.</a:t>
            </a:r>
          </a:p>
        </p:txBody>
      </p:sp>
      <p:sp>
        <p:nvSpPr>
          <p:cNvPr id="18" name="TextBox 17"/>
          <p:cNvSpPr txBox="1"/>
          <p:nvPr/>
        </p:nvSpPr>
        <p:spPr>
          <a:xfrm>
            <a:off x="658368" y="4315968"/>
            <a:ext cx="3182112" cy="238527"/>
          </a:xfrm>
          <a:prstGeom prst="rect">
            <a:avLst/>
          </a:prstGeom>
          <a:noFill/>
        </p:spPr>
        <p:txBody>
          <a:bodyPr wrap="square" lIns="45720" rIns="45720" anchor="t">
            <a:spAutoFit/>
          </a:bodyPr>
          <a:lstStyle/>
          <a:p>
            <a:pPr algn="l">
              <a:spcAft>
                <a:spcPts val="200"/>
              </a:spcAft>
            </a:pPr>
            <a:r>
              <a:rPr sz="950" b="1" i="0" dirty="0">
                <a:latin typeface="Calibri"/>
              </a:rPr>
              <a:t>MEASURE</a:t>
            </a:r>
          </a:p>
        </p:txBody>
      </p:sp>
      <p:sp>
        <p:nvSpPr>
          <p:cNvPr id="19" name="TextBox 18"/>
          <p:cNvSpPr txBox="1"/>
          <p:nvPr/>
        </p:nvSpPr>
        <p:spPr>
          <a:xfrm>
            <a:off x="658368" y="4572000"/>
            <a:ext cx="3182112" cy="502920"/>
          </a:xfrm>
          <a:prstGeom prst="rect">
            <a:avLst/>
          </a:prstGeom>
          <a:noFill/>
        </p:spPr>
        <p:txBody>
          <a:bodyPr wrap="square" lIns="45720" rIns="45720" anchor="t">
            <a:spAutoFit/>
          </a:bodyPr>
          <a:lstStyle/>
          <a:p>
            <a:pPr algn="l">
              <a:spcAft>
                <a:spcPts val="200"/>
              </a:spcAft>
            </a:pPr>
            <a:r>
              <a:rPr sz="930" b="0" i="0" dirty="0">
                <a:solidFill>
                  <a:srgbClr val="1F2937"/>
                </a:solidFill>
                <a:latin typeface="Calibri"/>
              </a:rPr>
              <a:t>Record baseline price, units, contribution, availability, waste and other promotions.</a:t>
            </a:r>
          </a:p>
        </p:txBody>
      </p:sp>
      <p:sp>
        <p:nvSpPr>
          <p:cNvPr id="20" name="Rounded Rectangle 19"/>
          <p:cNvSpPr/>
          <p:nvPr/>
        </p:nvSpPr>
        <p:spPr>
          <a:xfrm>
            <a:off x="4270248" y="2852928"/>
            <a:ext cx="3502152" cy="2395728"/>
          </a:xfrm>
          <a:prstGeom prst="roundRect">
            <a:avLst>
              <a:gd name="adj" fmla="val 8000"/>
            </a:avLst>
          </a:prstGeom>
          <a:solidFill>
            <a:srgbClr val="C00000"/>
          </a:solidFill>
          <a:ln>
            <a:solidFill>
              <a:srgbClr val="E1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25696" y="3026664"/>
            <a:ext cx="3182112" cy="274320"/>
          </a:xfrm>
          <a:prstGeom prst="rect">
            <a:avLst/>
          </a:prstGeom>
          <a:noFill/>
        </p:spPr>
        <p:txBody>
          <a:bodyPr wrap="square" lIns="45720" rIns="45720" anchor="t">
            <a:spAutoFit/>
          </a:bodyPr>
          <a:lstStyle/>
          <a:p>
            <a:pPr algn="l">
              <a:spcAft>
                <a:spcPts val="200"/>
              </a:spcAft>
            </a:pPr>
            <a:r>
              <a:rPr sz="1200" b="1" i="0" dirty="0">
                <a:solidFill>
                  <a:schemeClr val="bg1"/>
                </a:solidFill>
                <a:latin typeface="Calibri"/>
              </a:rPr>
              <a:t>2 · TEST</a:t>
            </a:r>
          </a:p>
        </p:txBody>
      </p:sp>
      <p:sp>
        <p:nvSpPr>
          <p:cNvPr id="22" name="TextBox 21"/>
          <p:cNvSpPr txBox="1"/>
          <p:nvPr/>
        </p:nvSpPr>
        <p:spPr>
          <a:xfrm>
            <a:off x="4425696" y="3401568"/>
            <a:ext cx="3182112" cy="567848"/>
          </a:xfrm>
          <a:prstGeom prst="rect">
            <a:avLst/>
          </a:prstGeom>
          <a:noFill/>
        </p:spPr>
        <p:txBody>
          <a:bodyPr wrap="square" lIns="45720" rIns="45720" anchor="t">
            <a:spAutoFit/>
          </a:bodyPr>
          <a:lstStyle/>
          <a:p>
            <a:pPr algn="l">
              <a:spcAft>
                <a:spcPts val="200"/>
              </a:spcAft>
            </a:pPr>
            <a:r>
              <a:rPr sz="1030" b="0" i="0" dirty="0">
                <a:solidFill>
                  <a:schemeClr val="bg1"/>
                </a:solidFill>
                <a:latin typeface="Calibri"/>
              </a:rPr>
              <a:t>Compare test and control results; account for seasonality, media, distribution and cannibalisation where data allow.</a:t>
            </a:r>
          </a:p>
        </p:txBody>
      </p:sp>
      <p:sp>
        <p:nvSpPr>
          <p:cNvPr id="23" name="TextBox 22"/>
          <p:cNvSpPr txBox="1"/>
          <p:nvPr/>
        </p:nvSpPr>
        <p:spPr>
          <a:xfrm>
            <a:off x="4425696" y="4315968"/>
            <a:ext cx="3182112" cy="219456"/>
          </a:xfrm>
          <a:prstGeom prst="rect">
            <a:avLst/>
          </a:prstGeom>
          <a:noFill/>
        </p:spPr>
        <p:txBody>
          <a:bodyPr wrap="square" lIns="45720" rIns="45720" anchor="t">
            <a:spAutoFit/>
          </a:bodyPr>
          <a:lstStyle/>
          <a:p>
            <a:pPr algn="l">
              <a:spcAft>
                <a:spcPts val="200"/>
              </a:spcAft>
            </a:pPr>
            <a:r>
              <a:rPr sz="950" b="1" i="0">
                <a:solidFill>
                  <a:srgbClr val="C9A227"/>
                </a:solidFill>
                <a:latin typeface="Calibri"/>
              </a:rPr>
              <a:t>MEASURE</a:t>
            </a:r>
          </a:p>
        </p:txBody>
      </p:sp>
      <p:sp>
        <p:nvSpPr>
          <p:cNvPr id="24" name="TextBox 23"/>
          <p:cNvSpPr txBox="1"/>
          <p:nvPr/>
        </p:nvSpPr>
        <p:spPr>
          <a:xfrm>
            <a:off x="4425696" y="4572000"/>
            <a:ext cx="3182112" cy="378565"/>
          </a:xfrm>
          <a:prstGeom prst="rect">
            <a:avLst/>
          </a:prstGeom>
          <a:noFill/>
        </p:spPr>
        <p:txBody>
          <a:bodyPr wrap="square" lIns="45720" rIns="45720" anchor="t">
            <a:spAutoFit/>
          </a:bodyPr>
          <a:lstStyle/>
          <a:p>
            <a:pPr algn="l">
              <a:spcAft>
                <a:spcPts val="200"/>
              </a:spcAft>
            </a:pPr>
            <a:r>
              <a:rPr sz="930" b="0" i="0" dirty="0">
                <a:solidFill>
                  <a:schemeClr val="bg1"/>
                </a:solidFill>
                <a:latin typeface="Calibri"/>
              </a:rPr>
              <a:t>Track incremental units, net contribution, basket size and repeat purchase against the control.</a:t>
            </a:r>
          </a:p>
        </p:txBody>
      </p:sp>
      <p:sp>
        <p:nvSpPr>
          <p:cNvPr id="25" name="Rounded Rectangle 24"/>
          <p:cNvSpPr/>
          <p:nvPr/>
        </p:nvSpPr>
        <p:spPr>
          <a:xfrm>
            <a:off x="8037576" y="2852928"/>
            <a:ext cx="3502152" cy="2395728"/>
          </a:xfrm>
          <a:prstGeom prst="roundRect">
            <a:avLst>
              <a:gd name="adj" fmla="val 8000"/>
            </a:avLst>
          </a:prstGeom>
          <a:solidFill>
            <a:srgbClr val="F8F7F4"/>
          </a:solidFill>
          <a:ln>
            <a:solidFill>
              <a:srgbClr val="E1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93024" y="3026664"/>
            <a:ext cx="3182112" cy="274320"/>
          </a:xfrm>
          <a:prstGeom prst="rect">
            <a:avLst/>
          </a:prstGeom>
          <a:noFill/>
        </p:spPr>
        <p:txBody>
          <a:bodyPr wrap="square" lIns="45720" rIns="45720" anchor="t">
            <a:spAutoFit/>
          </a:bodyPr>
          <a:lstStyle/>
          <a:p>
            <a:pPr algn="l">
              <a:spcAft>
                <a:spcPts val="200"/>
              </a:spcAft>
            </a:pPr>
            <a:r>
              <a:rPr sz="1200" b="1" i="0" dirty="0">
                <a:solidFill>
                  <a:srgbClr val="0B1F3A"/>
                </a:solidFill>
                <a:latin typeface="Calibri"/>
              </a:rPr>
              <a:t>3 · SCALE / STOP</a:t>
            </a:r>
          </a:p>
        </p:txBody>
      </p:sp>
      <p:sp>
        <p:nvSpPr>
          <p:cNvPr id="27" name="TextBox 26"/>
          <p:cNvSpPr txBox="1"/>
          <p:nvPr/>
        </p:nvSpPr>
        <p:spPr>
          <a:xfrm>
            <a:off x="8193024" y="3401568"/>
            <a:ext cx="3182112" cy="822960"/>
          </a:xfrm>
          <a:prstGeom prst="rect">
            <a:avLst/>
          </a:prstGeom>
          <a:noFill/>
        </p:spPr>
        <p:txBody>
          <a:bodyPr wrap="square" lIns="45720" rIns="45720" anchor="t">
            <a:spAutoFit/>
          </a:bodyPr>
          <a:lstStyle/>
          <a:p>
            <a:pPr algn="l">
              <a:spcAft>
                <a:spcPts val="200"/>
              </a:spcAft>
            </a:pPr>
            <a:r>
              <a:rPr sz="1030" b="0" i="0">
                <a:solidFill>
                  <a:srgbClr val="1F2937"/>
                </a:solidFill>
                <a:latin typeface="Calibri"/>
              </a:rPr>
              <a:t>Scale only if the test demonstrates positive incremental value against a pre-agreed hurdle; otherwise stop or redesign.</a:t>
            </a:r>
          </a:p>
        </p:txBody>
      </p:sp>
      <p:sp>
        <p:nvSpPr>
          <p:cNvPr id="28" name="TextBox 27"/>
          <p:cNvSpPr txBox="1"/>
          <p:nvPr/>
        </p:nvSpPr>
        <p:spPr>
          <a:xfrm>
            <a:off x="8193024" y="4315968"/>
            <a:ext cx="3182112" cy="238527"/>
          </a:xfrm>
          <a:prstGeom prst="rect">
            <a:avLst/>
          </a:prstGeom>
          <a:noFill/>
        </p:spPr>
        <p:txBody>
          <a:bodyPr wrap="square" lIns="45720" rIns="45720" anchor="t">
            <a:spAutoFit/>
          </a:bodyPr>
          <a:lstStyle/>
          <a:p>
            <a:pPr algn="l">
              <a:spcAft>
                <a:spcPts val="200"/>
              </a:spcAft>
            </a:pPr>
            <a:r>
              <a:rPr sz="950" b="1" i="0" dirty="0">
                <a:latin typeface="Calibri"/>
              </a:rPr>
              <a:t>MEASURE</a:t>
            </a:r>
          </a:p>
        </p:txBody>
      </p:sp>
      <p:sp>
        <p:nvSpPr>
          <p:cNvPr id="29" name="TextBox 28"/>
          <p:cNvSpPr txBox="1"/>
          <p:nvPr/>
        </p:nvSpPr>
        <p:spPr>
          <a:xfrm>
            <a:off x="8193024" y="4572000"/>
            <a:ext cx="3182112" cy="502920"/>
          </a:xfrm>
          <a:prstGeom prst="rect">
            <a:avLst/>
          </a:prstGeom>
          <a:noFill/>
        </p:spPr>
        <p:txBody>
          <a:bodyPr wrap="square" lIns="45720" rIns="45720" anchor="t">
            <a:spAutoFit/>
          </a:bodyPr>
          <a:lstStyle/>
          <a:p>
            <a:pPr algn="l">
              <a:spcAft>
                <a:spcPts val="200"/>
              </a:spcAft>
            </a:pPr>
            <a:r>
              <a:rPr sz="930" b="0" i="0">
                <a:solidFill>
                  <a:srgbClr val="1F2937"/>
                </a:solidFill>
                <a:latin typeface="Calibri"/>
              </a:rPr>
              <a:t>Review realised contribution, execution cost, operational feasibility and customer/value perception.</a:t>
            </a:r>
          </a:p>
        </p:txBody>
      </p:sp>
      <p:sp>
        <p:nvSpPr>
          <p:cNvPr id="30" name="Rounded Rectangle 29"/>
          <p:cNvSpPr/>
          <p:nvPr/>
        </p:nvSpPr>
        <p:spPr>
          <a:xfrm>
            <a:off x="502920" y="5431536"/>
            <a:ext cx="11183112" cy="502920"/>
          </a:xfrm>
          <a:prstGeom prst="roundRect">
            <a:avLst>
              <a:gd name="adj" fmla="val 8000"/>
            </a:avLst>
          </a:prstGeom>
          <a:solidFill>
            <a:srgbClr val="0B1F3A"/>
          </a:solidFill>
          <a:ln>
            <a:solidFill>
              <a:srgbClr val="0B1F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13232" y="5541264"/>
            <a:ext cx="10789920" cy="265176"/>
          </a:xfrm>
          <a:prstGeom prst="rect">
            <a:avLst/>
          </a:prstGeom>
          <a:noFill/>
        </p:spPr>
        <p:txBody>
          <a:bodyPr wrap="square" lIns="45720" rIns="45720" anchor="t">
            <a:spAutoFit/>
          </a:bodyPr>
          <a:lstStyle/>
          <a:p>
            <a:pPr algn="l">
              <a:spcAft>
                <a:spcPts val="200"/>
              </a:spcAft>
            </a:pPr>
            <a:r>
              <a:rPr sz="1150" b="1" i="0">
                <a:solidFill>
                  <a:srgbClr val="FFFFFF"/>
                </a:solidFill>
                <a:latin typeface="Calibri"/>
              </a:rPr>
              <a:t>Net impact = incremental contribution − margin lost on existing units − offer/execution costs + verified, attributable savings.</a:t>
            </a:r>
          </a:p>
        </p:txBody>
      </p:sp>
      <p:sp>
        <p:nvSpPr>
          <p:cNvPr id="33" name="TextBox 32"/>
          <p:cNvSpPr txBox="1"/>
          <p:nvPr/>
        </p:nvSpPr>
        <p:spPr>
          <a:xfrm>
            <a:off x="11064240" y="6473952"/>
            <a:ext cx="658368" cy="201168"/>
          </a:xfrm>
          <a:prstGeom prst="rect">
            <a:avLst/>
          </a:prstGeom>
          <a:noFill/>
        </p:spPr>
        <p:txBody>
          <a:bodyPr wrap="square" lIns="45720" rIns="45720" anchor="t">
            <a:spAutoFit/>
          </a:bodyPr>
          <a:lstStyle/>
          <a:p>
            <a:pPr algn="r">
              <a:spcAft>
                <a:spcPts val="200"/>
              </a:spcAft>
            </a:pPr>
            <a:r>
              <a:rPr sz="900">
                <a:solidFill>
                  <a:srgbClr val="6B7280"/>
                </a:solidFill>
                <a:latin typeface="Calibri"/>
              </a:rPr>
              <a:t>9 | 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0515600" y="6537960"/>
            <a:ext cx="1371600" cy="228600"/>
          </a:xfrm>
          <a:prstGeom prst="rect">
            <a:avLst/>
          </a:prstGeom>
          <a:noFill/>
          <a:ln/>
        </p:spPr>
        <p:txBody>
          <a:bodyPr wrap="square" rtlCol="0" anchor="ctr"/>
          <a:lstStyle/>
          <a:p>
            <a:pPr marL="0" indent="0" algn="r">
              <a:buNone/>
            </a:pPr>
            <a:r>
              <a:rPr sz="900">
                <a:solidFill>
                  <a:srgbClr val="6B7280"/>
                </a:solidFill>
                <a:latin typeface="Calibri"/>
              </a:rPr>
              <a:t>10 | 12</a:t>
            </a:r>
            <a:endParaRPr lang="en-US" sz="1100" dirty="0"/>
          </a:p>
        </p:txBody>
      </p:sp>
      <p:sp>
        <p:nvSpPr>
          <p:cNvPr id="4" name="Text 2"/>
          <p:cNvSpPr/>
          <p:nvPr/>
        </p:nvSpPr>
        <p:spPr>
          <a:xfrm>
            <a:off x="457200" y="548640"/>
            <a:ext cx="10972800" cy="457200"/>
          </a:xfrm>
          <a:prstGeom prst="rect">
            <a:avLst/>
          </a:prstGeom>
          <a:noFill/>
          <a:ln/>
        </p:spPr>
        <p:txBody>
          <a:bodyPr wrap="square" rtlCol="0" anchor="ctr"/>
          <a:lstStyle/>
          <a:p>
            <a:pPr marL="0" indent="0">
              <a:buNone/>
            </a:pPr>
            <a:r>
              <a:rPr lang="en-US" sz="2800" b="1" dirty="0">
                <a:solidFill>
                  <a:srgbClr val="0B1F3A"/>
                </a:solidFill>
                <a:latin typeface="Calibri" pitchFamily="34" charset="0"/>
                <a:ea typeface="Calibri" pitchFamily="34" charset="-122"/>
                <a:cs typeface="Calibri" pitchFamily="34" charset="-120"/>
              </a:rPr>
              <a:t>Key risks and how to manage them</a:t>
            </a:r>
            <a:endParaRPr lang="en-US" sz="2800" dirty="0"/>
          </a:p>
        </p:txBody>
      </p:sp>
      <p:sp>
        <p:nvSpPr>
          <p:cNvPr id="5" name="Shape 3"/>
          <p:cNvSpPr/>
          <p:nvPr/>
        </p:nvSpPr>
        <p:spPr>
          <a:xfrm>
            <a:off x="457200" y="1188720"/>
            <a:ext cx="3657600" cy="2286000"/>
          </a:xfrm>
          <a:prstGeom prst="roundRect">
            <a:avLst>
              <a:gd name="adj" fmla="val 3200"/>
            </a:avLst>
          </a:prstGeom>
          <a:solidFill>
            <a:srgbClr val="F8F7F4"/>
          </a:solidFill>
          <a:ln/>
        </p:spPr>
        <p:txBody>
          <a:bodyPr/>
          <a:lstStyle/>
          <a:p>
            <a:endParaRPr/>
          </a:p>
        </p:txBody>
      </p:sp>
      <p:sp>
        <p:nvSpPr>
          <p:cNvPr id="6" name="Text 4"/>
          <p:cNvSpPr/>
          <p:nvPr/>
        </p:nvSpPr>
        <p:spPr>
          <a:xfrm>
            <a:off x="640080" y="1417320"/>
            <a:ext cx="3291840" cy="457200"/>
          </a:xfrm>
          <a:prstGeom prst="rect">
            <a:avLst/>
          </a:prstGeom>
          <a:noFill/>
          <a:ln/>
        </p:spPr>
        <p:txBody>
          <a:bodyPr wrap="square"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Price-war escalation</a:t>
            </a:r>
            <a:endParaRPr lang="en-US" sz="1500" dirty="0"/>
          </a:p>
        </p:txBody>
      </p:sp>
      <p:sp>
        <p:nvSpPr>
          <p:cNvPr id="7" name="Text 5"/>
          <p:cNvSpPr/>
          <p:nvPr/>
        </p:nvSpPr>
        <p:spPr>
          <a:xfrm>
            <a:off x="640080" y="2011680"/>
            <a:ext cx="3291840" cy="1280160"/>
          </a:xfrm>
          <a:prstGeom prst="rect">
            <a:avLst/>
          </a:prstGeom>
          <a:noFill/>
          <a:ln/>
        </p:spPr>
        <p:txBody>
          <a:bodyPr wrap="square" rtlCol="0" anchor="ctr"/>
          <a:lstStyle/>
          <a:p>
            <a:pPr marL="0" indent="0">
              <a:buNone/>
            </a:pPr>
            <a:r>
              <a:rPr lang="en-US" sz="1300" dirty="0">
                <a:solidFill>
                  <a:srgbClr val="1F2937"/>
                </a:solidFill>
                <a:latin typeface="Calibri" pitchFamily="34" charset="0"/>
                <a:ea typeface="Calibri" pitchFamily="34" charset="-122"/>
                <a:cs typeface="Calibri" pitchFamily="34" charset="-120"/>
              </a:rPr>
              <a:t>Competitors may respond with deeper cuts. Limit investment to products where the price gap and customer response justify the cost.</a:t>
            </a:r>
            <a:endParaRPr lang="en-US" sz="1300" dirty="0"/>
          </a:p>
        </p:txBody>
      </p:sp>
      <p:sp>
        <p:nvSpPr>
          <p:cNvPr id="8" name="Shape 6"/>
          <p:cNvSpPr/>
          <p:nvPr/>
        </p:nvSpPr>
        <p:spPr>
          <a:xfrm>
            <a:off x="4297680" y="1188720"/>
            <a:ext cx="3657600" cy="2286000"/>
          </a:xfrm>
          <a:prstGeom prst="roundRect">
            <a:avLst>
              <a:gd name="adj" fmla="val 3200"/>
            </a:avLst>
          </a:prstGeom>
          <a:solidFill>
            <a:srgbClr val="F8F7F4"/>
          </a:solidFill>
          <a:ln/>
        </p:spPr>
        <p:txBody>
          <a:bodyPr/>
          <a:lstStyle/>
          <a:p>
            <a:endParaRPr/>
          </a:p>
        </p:txBody>
      </p:sp>
      <p:sp>
        <p:nvSpPr>
          <p:cNvPr id="9" name="Text 7"/>
          <p:cNvSpPr/>
          <p:nvPr/>
        </p:nvSpPr>
        <p:spPr>
          <a:xfrm>
            <a:off x="4480560" y="1417320"/>
            <a:ext cx="3291840" cy="457200"/>
          </a:xfrm>
          <a:prstGeom prst="rect">
            <a:avLst/>
          </a:prstGeom>
          <a:noFill/>
          <a:ln/>
        </p:spPr>
        <p:txBody>
          <a:bodyPr wrap="square"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Cost inflation</a:t>
            </a:r>
            <a:endParaRPr lang="en-US" sz="1500" dirty="0"/>
          </a:p>
        </p:txBody>
      </p:sp>
      <p:sp>
        <p:nvSpPr>
          <p:cNvPr id="10" name="Text 8"/>
          <p:cNvSpPr/>
          <p:nvPr/>
        </p:nvSpPr>
        <p:spPr>
          <a:xfrm>
            <a:off x="4480560" y="2011680"/>
            <a:ext cx="3291840" cy="1280160"/>
          </a:xfrm>
          <a:prstGeom prst="rect">
            <a:avLst/>
          </a:prstGeom>
          <a:noFill/>
          <a:ln/>
        </p:spPr>
        <p:txBody>
          <a:bodyPr wrap="square" rtlCol="0" anchor="ctr"/>
          <a:lstStyle/>
          <a:p>
            <a:pPr marL="0" indent="0">
              <a:buNone/>
            </a:pPr>
            <a:r>
              <a:rPr lang="en-US" sz="1300" dirty="0">
                <a:solidFill>
                  <a:srgbClr val="1F2937"/>
                </a:solidFill>
                <a:latin typeface="Calibri" pitchFamily="34" charset="0"/>
                <a:ea typeface="Calibri" pitchFamily="34" charset="-122"/>
                <a:cs typeface="Calibri" pitchFamily="34" charset="-120"/>
              </a:rPr>
              <a:t>Wage, energy or supply costs may outpace savings. Reforecast the funding envelope and do not commit unverified savings.</a:t>
            </a:r>
            <a:endParaRPr lang="en-US" sz="1300" dirty="0"/>
          </a:p>
        </p:txBody>
      </p:sp>
      <p:sp>
        <p:nvSpPr>
          <p:cNvPr id="11" name="Shape 9"/>
          <p:cNvSpPr/>
          <p:nvPr/>
        </p:nvSpPr>
        <p:spPr>
          <a:xfrm>
            <a:off x="8138160" y="1188720"/>
            <a:ext cx="3657600" cy="2286000"/>
          </a:xfrm>
          <a:prstGeom prst="roundRect">
            <a:avLst>
              <a:gd name="adj" fmla="val 3200"/>
            </a:avLst>
          </a:prstGeom>
          <a:solidFill>
            <a:srgbClr val="F8F7F4"/>
          </a:solidFill>
          <a:ln/>
        </p:spPr>
        <p:txBody>
          <a:bodyPr/>
          <a:lstStyle/>
          <a:p>
            <a:endParaRPr/>
          </a:p>
        </p:txBody>
      </p:sp>
      <p:sp>
        <p:nvSpPr>
          <p:cNvPr id="12" name="Text 10"/>
          <p:cNvSpPr/>
          <p:nvPr/>
        </p:nvSpPr>
        <p:spPr>
          <a:xfrm>
            <a:off x="8321040" y="1417320"/>
            <a:ext cx="3291840" cy="457200"/>
          </a:xfrm>
          <a:prstGeom prst="rect">
            <a:avLst/>
          </a:prstGeom>
          <a:noFill/>
          <a:ln/>
        </p:spPr>
        <p:txBody>
          <a:bodyPr wrap="square"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Weak loyalty response</a:t>
            </a:r>
            <a:endParaRPr lang="en-US" sz="1500" dirty="0"/>
          </a:p>
        </p:txBody>
      </p:sp>
      <p:sp>
        <p:nvSpPr>
          <p:cNvPr id="13" name="Text 11"/>
          <p:cNvSpPr/>
          <p:nvPr/>
        </p:nvSpPr>
        <p:spPr>
          <a:xfrm>
            <a:off x="8321040" y="2011680"/>
            <a:ext cx="3291840" cy="1280160"/>
          </a:xfrm>
          <a:prstGeom prst="rect">
            <a:avLst/>
          </a:prstGeom>
          <a:noFill/>
          <a:ln/>
        </p:spPr>
        <p:txBody>
          <a:bodyPr wrap="square" rtlCol="0" anchor="ctr"/>
          <a:lstStyle/>
          <a:p>
            <a:pPr marL="0" indent="0">
              <a:buNone/>
            </a:pPr>
            <a:r>
              <a:rPr lang="en-US" sz="1300" dirty="0">
                <a:solidFill>
                  <a:srgbClr val="1F2937"/>
                </a:solidFill>
                <a:latin typeface="Calibri" pitchFamily="34" charset="0"/>
                <a:ea typeface="Calibri" pitchFamily="34" charset="-122"/>
                <a:cs typeface="Calibri" pitchFamily="34" charset="-120"/>
              </a:rPr>
              <a:t>Discounts may subsidise existing purchases. Use test/control measurement to estimate incremental demand and contribution.</a:t>
            </a:r>
            <a:endParaRPr lang="en-US" sz="1300" dirty="0"/>
          </a:p>
        </p:txBody>
      </p:sp>
      <p:sp>
        <p:nvSpPr>
          <p:cNvPr id="14" name="Shape 12"/>
          <p:cNvSpPr/>
          <p:nvPr/>
        </p:nvSpPr>
        <p:spPr>
          <a:xfrm>
            <a:off x="457200" y="3657600"/>
            <a:ext cx="3657600" cy="2286000"/>
          </a:xfrm>
          <a:prstGeom prst="roundRect">
            <a:avLst>
              <a:gd name="adj" fmla="val 3200"/>
            </a:avLst>
          </a:prstGeom>
          <a:solidFill>
            <a:srgbClr val="F8F7F4"/>
          </a:solidFill>
          <a:ln/>
        </p:spPr>
        <p:txBody>
          <a:bodyPr/>
          <a:lstStyle/>
          <a:p>
            <a:endParaRPr/>
          </a:p>
        </p:txBody>
      </p:sp>
      <p:sp>
        <p:nvSpPr>
          <p:cNvPr id="15" name="Text 13"/>
          <p:cNvSpPr/>
          <p:nvPr/>
        </p:nvSpPr>
        <p:spPr>
          <a:xfrm>
            <a:off x="640080" y="3886200"/>
            <a:ext cx="3291840" cy="457200"/>
          </a:xfrm>
          <a:prstGeom prst="rect">
            <a:avLst/>
          </a:prstGeom>
          <a:noFill/>
          <a:ln/>
        </p:spPr>
        <p:txBody>
          <a:bodyPr wrap="square"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Low-return promotions</a:t>
            </a:r>
            <a:endParaRPr lang="en-US" sz="1500" dirty="0"/>
          </a:p>
        </p:txBody>
      </p:sp>
      <p:sp>
        <p:nvSpPr>
          <p:cNvPr id="16" name="Text 14"/>
          <p:cNvSpPr/>
          <p:nvPr/>
        </p:nvSpPr>
        <p:spPr>
          <a:xfrm>
            <a:off x="640080" y="4480560"/>
            <a:ext cx="3291840" cy="1280160"/>
          </a:xfrm>
          <a:prstGeom prst="rect">
            <a:avLst/>
          </a:prstGeom>
          <a:noFill/>
          <a:ln/>
        </p:spPr>
        <p:txBody>
          <a:bodyPr wrap="square" rtlCol="0" anchor="ctr"/>
          <a:lstStyle/>
          <a:p>
            <a:pPr marL="0" indent="0">
              <a:buNone/>
            </a:pPr>
            <a:r>
              <a:rPr lang="en-US" sz="1300" dirty="0">
                <a:solidFill>
                  <a:srgbClr val="1F2937"/>
                </a:solidFill>
                <a:latin typeface="Calibri" pitchFamily="34" charset="0"/>
                <a:ea typeface="Calibri" pitchFamily="34" charset="-122"/>
                <a:cs typeface="Calibri" pitchFamily="34" charset="-120"/>
              </a:rPr>
              <a:t>Sales can rise while contribution falls. Track net contribution after discounts, cannibalisation and execution costs.</a:t>
            </a:r>
            <a:endParaRPr lang="en-US" sz="1300" dirty="0"/>
          </a:p>
        </p:txBody>
      </p:sp>
      <p:sp>
        <p:nvSpPr>
          <p:cNvPr id="17" name="Shape 15"/>
          <p:cNvSpPr/>
          <p:nvPr/>
        </p:nvSpPr>
        <p:spPr>
          <a:xfrm>
            <a:off x="4297680" y="3657600"/>
            <a:ext cx="3657600" cy="2286000"/>
          </a:xfrm>
          <a:prstGeom prst="roundRect">
            <a:avLst>
              <a:gd name="adj" fmla="val 3200"/>
            </a:avLst>
          </a:prstGeom>
          <a:solidFill>
            <a:srgbClr val="F8F7F4"/>
          </a:solidFill>
          <a:ln/>
        </p:spPr>
        <p:txBody>
          <a:bodyPr/>
          <a:lstStyle/>
          <a:p>
            <a:endParaRPr/>
          </a:p>
        </p:txBody>
      </p:sp>
      <p:sp>
        <p:nvSpPr>
          <p:cNvPr id="18" name="Text 16"/>
          <p:cNvSpPr/>
          <p:nvPr/>
        </p:nvSpPr>
        <p:spPr>
          <a:xfrm>
            <a:off x="4480560" y="3886200"/>
            <a:ext cx="3291840" cy="457200"/>
          </a:xfrm>
          <a:prstGeom prst="rect">
            <a:avLst/>
          </a:prstGeom>
          <a:noFill/>
          <a:ln/>
        </p:spPr>
        <p:txBody>
          <a:bodyPr wrap="square"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Savings not realised</a:t>
            </a:r>
            <a:endParaRPr lang="en-US" sz="1500" dirty="0"/>
          </a:p>
        </p:txBody>
      </p:sp>
      <p:sp>
        <p:nvSpPr>
          <p:cNvPr id="19" name="Text 17"/>
          <p:cNvSpPr/>
          <p:nvPr/>
        </p:nvSpPr>
        <p:spPr>
          <a:xfrm>
            <a:off x="4480560" y="4480560"/>
            <a:ext cx="3291840" cy="1280160"/>
          </a:xfrm>
          <a:prstGeom prst="rect">
            <a:avLst/>
          </a:prstGeom>
          <a:noFill/>
          <a:ln/>
        </p:spPr>
        <p:txBody>
          <a:bodyPr wrap="square" rtlCol="0" anchor="ctr"/>
          <a:lstStyle/>
          <a:p>
            <a:pPr marL="0" indent="0">
              <a:buNone/>
            </a:pPr>
            <a:r>
              <a:rPr lang="en-US" sz="1300" dirty="0">
                <a:solidFill>
                  <a:srgbClr val="1F2937"/>
                </a:solidFill>
                <a:latin typeface="Calibri" pitchFamily="34" charset="0"/>
                <a:ea typeface="Calibri" pitchFamily="34" charset="-122"/>
                <a:cs typeface="Calibri" pitchFamily="34" charset="-120"/>
              </a:rPr>
              <a:t>Productivity gains may miss plan. Release price-investment funding only against verified savings or approved budgets.</a:t>
            </a:r>
            <a:endParaRPr lang="en-US" sz="1300" dirty="0"/>
          </a:p>
        </p:txBody>
      </p:sp>
      <p:sp>
        <p:nvSpPr>
          <p:cNvPr id="20" name="Shape 18"/>
          <p:cNvSpPr/>
          <p:nvPr/>
        </p:nvSpPr>
        <p:spPr>
          <a:xfrm>
            <a:off x="8138160" y="3657600"/>
            <a:ext cx="3657600" cy="2286000"/>
          </a:xfrm>
          <a:prstGeom prst="roundRect">
            <a:avLst>
              <a:gd name="adj" fmla="val 3200"/>
            </a:avLst>
          </a:prstGeom>
          <a:solidFill>
            <a:srgbClr val="F8F7F4"/>
          </a:solidFill>
          <a:ln/>
        </p:spPr>
        <p:txBody>
          <a:bodyPr/>
          <a:lstStyle/>
          <a:p>
            <a:endParaRPr/>
          </a:p>
        </p:txBody>
      </p:sp>
      <p:sp>
        <p:nvSpPr>
          <p:cNvPr id="21" name="Text 19"/>
          <p:cNvSpPr/>
          <p:nvPr/>
        </p:nvSpPr>
        <p:spPr>
          <a:xfrm>
            <a:off x="8321040" y="3886200"/>
            <a:ext cx="3291840" cy="457200"/>
          </a:xfrm>
          <a:prstGeom prst="rect">
            <a:avLst/>
          </a:prstGeom>
          <a:noFill/>
          <a:ln/>
        </p:spPr>
        <p:txBody>
          <a:bodyPr wrap="square"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Value perception</a:t>
            </a:r>
            <a:endParaRPr lang="en-US" sz="1500" dirty="0"/>
          </a:p>
        </p:txBody>
      </p:sp>
      <p:sp>
        <p:nvSpPr>
          <p:cNvPr id="22" name="Text 20"/>
          <p:cNvSpPr/>
          <p:nvPr/>
        </p:nvSpPr>
        <p:spPr>
          <a:xfrm>
            <a:off x="8321040" y="4480560"/>
            <a:ext cx="3291840" cy="1280160"/>
          </a:xfrm>
          <a:prstGeom prst="rect">
            <a:avLst/>
          </a:prstGeom>
          <a:noFill/>
          <a:ln/>
        </p:spPr>
        <p:txBody>
          <a:bodyPr wrap="square" rtlCol="0" anchor="ctr"/>
          <a:lstStyle/>
          <a:p>
            <a:pPr marL="0" indent="0">
              <a:buNone/>
            </a:pPr>
            <a:r>
              <a:rPr lang="en-US" sz="1300" dirty="0">
                <a:solidFill>
                  <a:srgbClr val="1F2937"/>
                </a:solidFill>
                <a:latin typeface="Calibri" pitchFamily="34" charset="0"/>
                <a:ea typeface="Calibri" pitchFamily="34" charset="-122"/>
                <a:cs typeface="Calibri" pitchFamily="34" charset="-120"/>
              </a:rPr>
              <a:t>Too many temporary offers may confuse value signals. Monitor customer perception alongside offer-level returns.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0515600" y="6537960"/>
            <a:ext cx="1371600" cy="228600"/>
          </a:xfrm>
          <a:prstGeom prst="rect">
            <a:avLst/>
          </a:prstGeom>
          <a:noFill/>
          <a:ln/>
        </p:spPr>
        <p:txBody>
          <a:bodyPr wrap="square" rtlCol="0" anchor="ctr"/>
          <a:lstStyle/>
          <a:p>
            <a:pPr marL="0" indent="0" algn="r">
              <a:buNone/>
            </a:pPr>
            <a:r>
              <a:rPr sz="900">
                <a:solidFill>
                  <a:srgbClr val="6B7280"/>
                </a:solidFill>
                <a:latin typeface="Calibri"/>
              </a:rPr>
              <a:t>11 | 12</a:t>
            </a:r>
            <a:endParaRPr lang="en-US" sz="1100" dirty="0"/>
          </a:p>
        </p:txBody>
      </p:sp>
      <p:sp>
        <p:nvSpPr>
          <p:cNvPr id="4" name="Text 2"/>
          <p:cNvSpPr/>
          <p:nvPr/>
        </p:nvSpPr>
        <p:spPr>
          <a:xfrm>
            <a:off x="457200" y="502920"/>
            <a:ext cx="10972800" cy="365760"/>
          </a:xfrm>
          <a:prstGeom prst="rect">
            <a:avLst/>
          </a:prstGeom>
          <a:noFill/>
          <a:ln/>
        </p:spPr>
        <p:txBody>
          <a:bodyPr wrap="square"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Recommended management actions</a:t>
            </a:r>
            <a:endParaRPr lang="en-US" sz="2600" dirty="0"/>
          </a:p>
        </p:txBody>
      </p:sp>
      <p:sp>
        <p:nvSpPr>
          <p:cNvPr id="5" name="Shape 3"/>
          <p:cNvSpPr/>
          <p:nvPr/>
        </p:nvSpPr>
        <p:spPr>
          <a:xfrm>
            <a:off x="457200" y="1051560"/>
            <a:ext cx="11247120" cy="502920"/>
          </a:xfrm>
          <a:prstGeom prst="rect">
            <a:avLst/>
          </a:prstGeom>
          <a:solidFill>
            <a:srgbClr val="0B1F3A"/>
          </a:solidFill>
          <a:ln/>
        </p:spPr>
        <p:txBody>
          <a:bodyPr/>
          <a:lstStyle/>
          <a:p>
            <a:endParaRPr/>
          </a:p>
        </p:txBody>
      </p:sp>
      <p:sp>
        <p:nvSpPr>
          <p:cNvPr id="6" name="Text 4"/>
          <p:cNvSpPr/>
          <p:nvPr/>
        </p:nvSpPr>
        <p:spPr>
          <a:xfrm>
            <a:off x="640080" y="1143000"/>
            <a:ext cx="59436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Recommendation</a:t>
            </a:r>
            <a:endParaRPr lang="en-US" sz="1400" dirty="0"/>
          </a:p>
        </p:txBody>
      </p:sp>
      <p:sp>
        <p:nvSpPr>
          <p:cNvPr id="7" name="Text 5"/>
          <p:cNvSpPr/>
          <p:nvPr/>
        </p:nvSpPr>
        <p:spPr>
          <a:xfrm>
            <a:off x="6675120" y="1143000"/>
            <a:ext cx="484632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Key measurable KPI</a:t>
            </a:r>
            <a:endParaRPr lang="en-US" sz="1400" dirty="0"/>
          </a:p>
        </p:txBody>
      </p:sp>
      <p:sp>
        <p:nvSpPr>
          <p:cNvPr id="8" name="Shape 6"/>
          <p:cNvSpPr/>
          <p:nvPr/>
        </p:nvSpPr>
        <p:spPr>
          <a:xfrm>
            <a:off x="457200" y="1600200"/>
            <a:ext cx="11247120" cy="868680"/>
          </a:xfrm>
          <a:prstGeom prst="rect">
            <a:avLst/>
          </a:prstGeom>
          <a:solidFill>
            <a:srgbClr val="F8F7F4"/>
          </a:solidFill>
          <a:ln/>
        </p:spPr>
        <p:txBody>
          <a:bodyPr/>
          <a:lstStyle/>
          <a:p>
            <a:endParaRPr/>
          </a:p>
        </p:txBody>
      </p:sp>
      <p:sp>
        <p:nvSpPr>
          <p:cNvPr id="9" name="Text 7"/>
          <p:cNvSpPr/>
          <p:nvPr/>
        </p:nvSpPr>
        <p:spPr>
          <a:xfrm>
            <a:off x="640080" y="1828800"/>
            <a:ext cx="5943600" cy="457200"/>
          </a:xfrm>
          <a:prstGeom prst="rect">
            <a:avLst/>
          </a:prstGeom>
          <a:noFill/>
          <a:ln/>
        </p:spPr>
        <p:txBody>
          <a:bodyPr wrap="square" rtlCol="0" anchor="ctr"/>
          <a:lstStyle/>
          <a:p>
            <a:pPr marL="0" indent="0">
              <a:buNone/>
            </a:pPr>
            <a:r>
              <a:rPr lang="en-US" sz="1400" dirty="0">
                <a:solidFill>
                  <a:srgbClr val="1F2937"/>
                </a:solidFill>
                <a:latin typeface="Calibri" pitchFamily="34" charset="0"/>
                <a:ea typeface="Calibri" pitchFamily="34" charset="-122"/>
                <a:cs typeface="Calibri" pitchFamily="34" charset="-120"/>
              </a:rPr>
              <a:t>Test selected price investments before scaling</a:t>
            </a:r>
            <a:endParaRPr lang="en-US" sz="1400" dirty="0"/>
          </a:p>
        </p:txBody>
      </p:sp>
      <p:sp>
        <p:nvSpPr>
          <p:cNvPr id="10" name="Text 8"/>
          <p:cNvSpPr/>
          <p:nvPr/>
        </p:nvSpPr>
        <p:spPr>
          <a:xfrm>
            <a:off x="6675120" y="1828800"/>
            <a:ext cx="4846320" cy="457200"/>
          </a:xfrm>
          <a:prstGeom prst="rect">
            <a:avLst/>
          </a:prstGeom>
          <a:noFill/>
          <a:ln/>
        </p:spPr>
        <p:txBody>
          <a:bodyPr wrap="square" rtlCol="0" anchor="ctr"/>
          <a:lstStyle/>
          <a:p>
            <a:pPr marL="0" indent="0">
              <a:buNone/>
            </a:pPr>
            <a:r>
              <a:rPr lang="en-US" sz="1300" dirty="0">
                <a:solidFill>
                  <a:srgbClr val="1E3A5F"/>
                </a:solidFill>
                <a:latin typeface="Calibri" pitchFamily="34" charset="0"/>
                <a:ea typeface="Calibri" pitchFamily="34" charset="-122"/>
                <a:cs typeface="Calibri" pitchFamily="34" charset="-120"/>
              </a:rPr>
              <a:t>Incremental contribution versus matched control; units and net price</a:t>
            </a:r>
            <a:endParaRPr lang="en-US" sz="1300" dirty="0"/>
          </a:p>
        </p:txBody>
      </p:sp>
      <p:sp>
        <p:nvSpPr>
          <p:cNvPr id="11" name="Shape 9"/>
          <p:cNvSpPr/>
          <p:nvPr/>
        </p:nvSpPr>
        <p:spPr>
          <a:xfrm>
            <a:off x="457200" y="2468880"/>
            <a:ext cx="11247120" cy="868680"/>
          </a:xfrm>
          <a:prstGeom prst="rect">
            <a:avLst/>
          </a:prstGeom>
          <a:solidFill>
            <a:srgbClr val="FFFFFF"/>
          </a:solidFill>
          <a:ln/>
        </p:spPr>
        <p:txBody>
          <a:bodyPr/>
          <a:lstStyle/>
          <a:p>
            <a:endParaRPr/>
          </a:p>
        </p:txBody>
      </p:sp>
      <p:sp>
        <p:nvSpPr>
          <p:cNvPr id="12" name="Text 10"/>
          <p:cNvSpPr/>
          <p:nvPr/>
        </p:nvSpPr>
        <p:spPr>
          <a:xfrm>
            <a:off x="640080" y="2697480"/>
            <a:ext cx="5943600" cy="457200"/>
          </a:xfrm>
          <a:prstGeom prst="rect">
            <a:avLst/>
          </a:prstGeom>
          <a:noFill/>
          <a:ln/>
        </p:spPr>
        <p:txBody>
          <a:bodyPr wrap="square" rtlCol="0" anchor="ctr"/>
          <a:lstStyle/>
          <a:p>
            <a:pPr marL="0" indent="0">
              <a:buNone/>
            </a:pPr>
            <a:r>
              <a:rPr lang="en-US" sz="1400" dirty="0">
                <a:solidFill>
                  <a:srgbClr val="1F2937"/>
                </a:solidFill>
                <a:latin typeface="Calibri" pitchFamily="34" charset="0"/>
                <a:ea typeface="Calibri" pitchFamily="34" charset="-122"/>
                <a:cs typeface="Calibri" pitchFamily="34" charset="-120"/>
              </a:rPr>
              <a:t>Evaluate Clubcard offers for incremental value</a:t>
            </a:r>
            <a:endParaRPr lang="en-US" sz="1400" dirty="0"/>
          </a:p>
        </p:txBody>
      </p:sp>
      <p:sp>
        <p:nvSpPr>
          <p:cNvPr id="13" name="Text 11"/>
          <p:cNvSpPr/>
          <p:nvPr/>
        </p:nvSpPr>
        <p:spPr>
          <a:xfrm>
            <a:off x="6675120" y="2697480"/>
            <a:ext cx="4846320" cy="457200"/>
          </a:xfrm>
          <a:prstGeom prst="rect">
            <a:avLst/>
          </a:prstGeom>
          <a:noFill/>
          <a:ln/>
        </p:spPr>
        <p:txBody>
          <a:bodyPr wrap="square" rtlCol="0" anchor="ctr"/>
          <a:lstStyle/>
          <a:p>
            <a:pPr marL="0" indent="0">
              <a:buNone/>
            </a:pPr>
            <a:r>
              <a:rPr lang="en-US" sz="1300" dirty="0">
                <a:solidFill>
                  <a:srgbClr val="1E3A5F"/>
                </a:solidFill>
                <a:latin typeface="Calibri" pitchFamily="34" charset="0"/>
                <a:ea typeface="Calibri" pitchFamily="34" charset="-122"/>
                <a:cs typeface="Calibri" pitchFamily="34" charset="-120"/>
              </a:rPr>
              <a:t>Incremental basket contribution, repeat purchase and redemption—not redemption alone</a:t>
            </a:r>
            <a:endParaRPr lang="en-US" sz="1300" dirty="0"/>
          </a:p>
        </p:txBody>
      </p:sp>
      <p:sp>
        <p:nvSpPr>
          <p:cNvPr id="14" name="Shape 12"/>
          <p:cNvSpPr/>
          <p:nvPr/>
        </p:nvSpPr>
        <p:spPr>
          <a:xfrm>
            <a:off x="457200" y="3337560"/>
            <a:ext cx="11247120" cy="868680"/>
          </a:xfrm>
          <a:prstGeom prst="rect">
            <a:avLst/>
          </a:prstGeom>
          <a:solidFill>
            <a:srgbClr val="F8F7F4"/>
          </a:solidFill>
          <a:ln/>
        </p:spPr>
        <p:txBody>
          <a:bodyPr/>
          <a:lstStyle/>
          <a:p>
            <a:endParaRPr/>
          </a:p>
        </p:txBody>
      </p:sp>
      <p:sp>
        <p:nvSpPr>
          <p:cNvPr id="15" name="Text 13"/>
          <p:cNvSpPr/>
          <p:nvPr/>
        </p:nvSpPr>
        <p:spPr>
          <a:xfrm>
            <a:off x="640080" y="3566160"/>
            <a:ext cx="5943600" cy="457200"/>
          </a:xfrm>
          <a:prstGeom prst="rect">
            <a:avLst/>
          </a:prstGeom>
          <a:noFill/>
          <a:ln/>
        </p:spPr>
        <p:txBody>
          <a:bodyPr wrap="square" rtlCol="0" anchor="ctr"/>
          <a:lstStyle/>
          <a:p>
            <a:pPr marL="0" indent="0">
              <a:buNone/>
            </a:pPr>
            <a:r>
              <a:rPr lang="en-US" sz="1400" dirty="0">
                <a:solidFill>
                  <a:srgbClr val="1F2937"/>
                </a:solidFill>
                <a:latin typeface="Calibri" pitchFamily="34" charset="0"/>
                <a:ea typeface="Calibri" pitchFamily="34" charset="-122"/>
                <a:cs typeface="Calibri" pitchFamily="34" charset="-120"/>
              </a:rPr>
              <a:t>Fund investment only from evidenced savings</a:t>
            </a:r>
            <a:endParaRPr lang="en-US" sz="1400" dirty="0"/>
          </a:p>
        </p:txBody>
      </p:sp>
      <p:sp>
        <p:nvSpPr>
          <p:cNvPr id="16" name="Text 14"/>
          <p:cNvSpPr/>
          <p:nvPr/>
        </p:nvSpPr>
        <p:spPr>
          <a:xfrm>
            <a:off x="6675120" y="3566160"/>
            <a:ext cx="4846320" cy="457200"/>
          </a:xfrm>
          <a:prstGeom prst="rect">
            <a:avLst/>
          </a:prstGeom>
          <a:noFill/>
          <a:ln/>
        </p:spPr>
        <p:txBody>
          <a:bodyPr wrap="square" rtlCol="0" anchor="ctr"/>
          <a:lstStyle/>
          <a:p>
            <a:pPr marL="0" indent="0">
              <a:buNone/>
            </a:pPr>
            <a:r>
              <a:rPr lang="en-US" sz="1300" dirty="0">
                <a:solidFill>
                  <a:srgbClr val="1E3A5F"/>
                </a:solidFill>
                <a:latin typeface="Calibri" pitchFamily="34" charset="0"/>
                <a:ea typeface="Calibri" pitchFamily="34" charset="-122"/>
                <a:cs typeface="Calibri" pitchFamily="34" charset="-120"/>
              </a:rPr>
              <a:t>Savings delivered versus plan, net of costs to realise them</a:t>
            </a:r>
            <a:endParaRPr lang="en-US" sz="1300" dirty="0"/>
          </a:p>
        </p:txBody>
      </p:sp>
      <p:sp>
        <p:nvSpPr>
          <p:cNvPr id="17" name="Shape 15"/>
          <p:cNvSpPr/>
          <p:nvPr/>
        </p:nvSpPr>
        <p:spPr>
          <a:xfrm>
            <a:off x="457200" y="4206240"/>
            <a:ext cx="11247120" cy="868680"/>
          </a:xfrm>
          <a:prstGeom prst="rect">
            <a:avLst/>
          </a:prstGeom>
          <a:solidFill>
            <a:srgbClr val="FFFFFF"/>
          </a:solidFill>
          <a:ln/>
        </p:spPr>
        <p:txBody>
          <a:bodyPr/>
          <a:lstStyle/>
          <a:p>
            <a:endParaRPr/>
          </a:p>
        </p:txBody>
      </p:sp>
      <p:sp>
        <p:nvSpPr>
          <p:cNvPr id="18" name="Text 16"/>
          <p:cNvSpPr/>
          <p:nvPr/>
        </p:nvSpPr>
        <p:spPr>
          <a:xfrm>
            <a:off x="640080" y="4434840"/>
            <a:ext cx="5943600" cy="457200"/>
          </a:xfrm>
          <a:prstGeom prst="rect">
            <a:avLst/>
          </a:prstGeom>
          <a:noFill/>
          <a:ln/>
        </p:spPr>
        <p:txBody>
          <a:bodyPr wrap="square" rtlCol="0" anchor="ctr"/>
          <a:lstStyle/>
          <a:p>
            <a:pPr marL="0" indent="0">
              <a:buNone/>
            </a:pPr>
            <a:r>
              <a:rPr lang="en-US" sz="1400" dirty="0">
                <a:solidFill>
                  <a:srgbClr val="1F2937"/>
                </a:solidFill>
                <a:latin typeface="Calibri" pitchFamily="34" charset="0"/>
                <a:ea typeface="Calibri" pitchFamily="34" charset="-122"/>
                <a:cs typeface="Calibri" pitchFamily="34" charset="-120"/>
              </a:rPr>
              <a:t>Stop or redesign promotions below the return hurdle</a:t>
            </a:r>
            <a:endParaRPr lang="en-US" sz="1400" dirty="0"/>
          </a:p>
        </p:txBody>
      </p:sp>
      <p:sp>
        <p:nvSpPr>
          <p:cNvPr id="19" name="Text 17"/>
          <p:cNvSpPr/>
          <p:nvPr/>
        </p:nvSpPr>
        <p:spPr>
          <a:xfrm>
            <a:off x="6675120" y="4434840"/>
            <a:ext cx="4846320" cy="457200"/>
          </a:xfrm>
          <a:prstGeom prst="rect">
            <a:avLst/>
          </a:prstGeom>
          <a:noFill/>
          <a:ln/>
        </p:spPr>
        <p:txBody>
          <a:bodyPr wrap="square" rtlCol="0" anchor="ctr"/>
          <a:lstStyle/>
          <a:p>
            <a:pPr marL="0" indent="0">
              <a:buNone/>
            </a:pPr>
            <a:r>
              <a:rPr lang="en-US" sz="1300" dirty="0">
                <a:solidFill>
                  <a:srgbClr val="1E3A5F"/>
                </a:solidFill>
                <a:latin typeface="Calibri" pitchFamily="34" charset="0"/>
                <a:ea typeface="Calibri" pitchFamily="34" charset="-122"/>
                <a:cs typeface="Calibri" pitchFamily="34" charset="-120"/>
              </a:rPr>
              <a:t>Net contribution by offer after discounts, cannibalisation and execution costs</a:t>
            </a:r>
            <a:endParaRPr lang="en-US" sz="1300" dirty="0"/>
          </a:p>
        </p:txBody>
      </p:sp>
      <p:sp>
        <p:nvSpPr>
          <p:cNvPr id="20" name="Shape 18"/>
          <p:cNvSpPr/>
          <p:nvPr/>
        </p:nvSpPr>
        <p:spPr>
          <a:xfrm>
            <a:off x="457200" y="5074920"/>
            <a:ext cx="11247120" cy="868680"/>
          </a:xfrm>
          <a:prstGeom prst="rect">
            <a:avLst/>
          </a:prstGeom>
          <a:solidFill>
            <a:srgbClr val="F8F7F4"/>
          </a:solidFill>
          <a:ln/>
        </p:spPr>
        <p:txBody>
          <a:bodyPr/>
          <a:lstStyle/>
          <a:p>
            <a:endParaRPr/>
          </a:p>
        </p:txBody>
      </p:sp>
      <p:sp>
        <p:nvSpPr>
          <p:cNvPr id="21" name="Text 19"/>
          <p:cNvSpPr/>
          <p:nvPr/>
        </p:nvSpPr>
        <p:spPr>
          <a:xfrm>
            <a:off x="640080" y="5303520"/>
            <a:ext cx="5943600" cy="457200"/>
          </a:xfrm>
          <a:prstGeom prst="rect">
            <a:avLst/>
          </a:prstGeom>
          <a:noFill/>
          <a:ln/>
        </p:spPr>
        <p:txBody>
          <a:bodyPr wrap="square" rtlCol="0" anchor="ctr"/>
          <a:lstStyle/>
          <a:p>
            <a:pPr marL="0" indent="0">
              <a:buNone/>
            </a:pPr>
            <a:r>
              <a:rPr lang="en-US" sz="1400" dirty="0">
                <a:solidFill>
                  <a:srgbClr val="1F2937"/>
                </a:solidFill>
                <a:latin typeface="Calibri" pitchFamily="34" charset="0"/>
                <a:ea typeface="Calibri" pitchFamily="34" charset="-122"/>
                <a:cs typeface="Calibri" pitchFamily="34" charset="-120"/>
              </a:rPr>
              <a:t>Treat premium and adjacent growth as a hypothesis</a:t>
            </a:r>
            <a:endParaRPr lang="en-US" sz="1400" dirty="0"/>
          </a:p>
        </p:txBody>
      </p:sp>
      <p:sp>
        <p:nvSpPr>
          <p:cNvPr id="22" name="Text 20"/>
          <p:cNvSpPr/>
          <p:nvPr/>
        </p:nvSpPr>
        <p:spPr>
          <a:xfrm>
            <a:off x="6675120" y="5303520"/>
            <a:ext cx="4846320" cy="457200"/>
          </a:xfrm>
          <a:prstGeom prst="rect">
            <a:avLst/>
          </a:prstGeom>
          <a:noFill/>
          <a:ln/>
        </p:spPr>
        <p:txBody>
          <a:bodyPr wrap="square" rtlCol="0" anchor="ctr"/>
          <a:lstStyle/>
          <a:p>
            <a:pPr marL="0" indent="0">
              <a:buNone/>
            </a:pPr>
            <a:r>
              <a:rPr lang="en-US" sz="1300" dirty="0">
                <a:solidFill>
                  <a:srgbClr val="1E3A5F"/>
                </a:solidFill>
                <a:latin typeface="Calibri" pitchFamily="34" charset="0"/>
                <a:ea typeface="Calibri" pitchFamily="34" charset="-122"/>
                <a:cs typeface="Calibri" pitchFamily="34" charset="-120"/>
              </a:rPr>
              <a:t>Incremental profit contribution from Finest, retail media, Booker and services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00000"/>
          </a:solidFill>
          <a:ln/>
        </p:spPr>
        <p:txBody>
          <a:bodyPr/>
          <a:lstStyle/>
          <a:p>
            <a:endParaRPr/>
          </a:p>
        </p:txBody>
      </p:sp>
      <p:sp>
        <p:nvSpPr>
          <p:cNvPr id="3" name="Text 1"/>
          <p:cNvSpPr/>
          <p:nvPr/>
        </p:nvSpPr>
        <p:spPr>
          <a:xfrm>
            <a:off x="609600" y="187960"/>
            <a:ext cx="10972800" cy="320040"/>
          </a:xfrm>
          <a:prstGeom prst="rect">
            <a:avLst/>
          </a:prstGeom>
          <a:noFill/>
          <a:ln/>
        </p:spPr>
        <p:txBody>
          <a:bodyPr wrap="square"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CONCLUSION</a:t>
            </a:r>
            <a:endParaRPr lang="en-US" sz="1300" dirty="0"/>
          </a:p>
        </p:txBody>
      </p:sp>
      <p:sp>
        <p:nvSpPr>
          <p:cNvPr id="4" name="Text 2"/>
          <p:cNvSpPr/>
          <p:nvPr/>
        </p:nvSpPr>
        <p:spPr>
          <a:xfrm>
            <a:off x="508000" y="614680"/>
            <a:ext cx="10972800" cy="10972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How can Tesco compete on price while protecting sustainable profit?</a:t>
            </a:r>
            <a:endParaRPr lang="en-US" sz="2800" dirty="0"/>
          </a:p>
          <a:p>
            <a:pPr marL="0" indent="0">
              <a:buNone/>
            </a:pPr>
            <a:endParaRPr lang="en-US" dirty="0">
              <a:solidFill>
                <a:schemeClr val="bg1"/>
              </a:solidFill>
            </a:endParaRPr>
          </a:p>
          <a:p>
            <a:pPr marL="0" indent="0">
              <a:buNone/>
            </a:pPr>
            <a:r>
              <a:rPr lang="en-US" dirty="0">
                <a:solidFill>
                  <a:schemeClr val="bg1"/>
                </a:solidFill>
              </a:rPr>
              <a:t>What Tesco can do?</a:t>
            </a:r>
          </a:p>
        </p:txBody>
      </p:sp>
      <p:sp>
        <p:nvSpPr>
          <p:cNvPr id="7" name="Rectangle: Rounded Corners 6">
            <a:extLst>
              <a:ext uri="{FF2B5EF4-FFF2-40B4-BE49-F238E27FC236}">
                <a16:creationId xmlns:a16="http://schemas.microsoft.com/office/drawing/2014/main" id="{37015D22-8643-0238-CD17-57AB596B6AF1}"/>
              </a:ext>
            </a:extLst>
          </p:cNvPr>
          <p:cNvSpPr/>
          <p:nvPr/>
        </p:nvSpPr>
        <p:spPr>
          <a:xfrm>
            <a:off x="1151796" y="3374500"/>
            <a:ext cx="3495040" cy="1066800"/>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rgbClr val="FFFFFF"/>
                </a:solidFill>
                <a:latin typeface="Calibri" pitchFamily="34" charset="0"/>
                <a:ea typeface="Calibri" pitchFamily="34" charset="-122"/>
                <a:cs typeface="Calibri" pitchFamily="34" charset="-120"/>
              </a:rPr>
              <a:t>Invest selectively where customer response is evidenced.</a:t>
            </a:r>
            <a:endParaRPr lang="en-US" dirty="0"/>
          </a:p>
        </p:txBody>
      </p:sp>
      <p:sp>
        <p:nvSpPr>
          <p:cNvPr id="11" name="Rectangle: Rounded Corners 10">
            <a:extLst>
              <a:ext uri="{FF2B5EF4-FFF2-40B4-BE49-F238E27FC236}">
                <a16:creationId xmlns:a16="http://schemas.microsoft.com/office/drawing/2014/main" id="{032A4B1E-0CD9-35E7-F9EB-67455CE66D1C}"/>
              </a:ext>
            </a:extLst>
          </p:cNvPr>
          <p:cNvSpPr/>
          <p:nvPr/>
        </p:nvSpPr>
        <p:spPr>
          <a:xfrm>
            <a:off x="7985760" y="3374500"/>
            <a:ext cx="3495040" cy="1041400"/>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FFFFFF"/>
                </a:solidFill>
                <a:latin typeface="Calibri" pitchFamily="34" charset="0"/>
                <a:ea typeface="Calibri" pitchFamily="34" charset="-122"/>
                <a:cs typeface="Calibri" pitchFamily="34" charset="-120"/>
              </a:rPr>
              <a:t>Measure incremental contribution against a control.</a:t>
            </a:r>
            <a:endParaRPr lang="en-US" dirty="0"/>
          </a:p>
        </p:txBody>
      </p:sp>
      <p:sp>
        <p:nvSpPr>
          <p:cNvPr id="15" name="Rectangle: Rounded Corners 14">
            <a:extLst>
              <a:ext uri="{FF2B5EF4-FFF2-40B4-BE49-F238E27FC236}">
                <a16:creationId xmlns:a16="http://schemas.microsoft.com/office/drawing/2014/main" id="{AE535894-CD3D-6BBB-78EE-9EFEFBBD9A6A}"/>
              </a:ext>
            </a:extLst>
          </p:cNvPr>
          <p:cNvSpPr/>
          <p:nvPr/>
        </p:nvSpPr>
        <p:spPr>
          <a:xfrm>
            <a:off x="4646836" y="2032855"/>
            <a:ext cx="3495040" cy="1066800"/>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FFFFFF"/>
                </a:solidFill>
                <a:latin typeface="Calibri" pitchFamily="34" charset="0"/>
                <a:ea typeface="Calibri" pitchFamily="34" charset="-122"/>
                <a:cs typeface="Calibri" pitchFamily="34" charset="-120"/>
              </a:rPr>
              <a:t>Fund investment only through verified savings or approved budgets.</a:t>
            </a:r>
            <a:endParaRPr lang="en-US" dirty="0"/>
          </a:p>
        </p:txBody>
      </p:sp>
      <p:sp>
        <p:nvSpPr>
          <p:cNvPr id="17" name="Rectangle: Rounded Corners 16">
            <a:extLst>
              <a:ext uri="{FF2B5EF4-FFF2-40B4-BE49-F238E27FC236}">
                <a16:creationId xmlns:a16="http://schemas.microsoft.com/office/drawing/2014/main" id="{6C21E411-0309-39E5-8296-C5F801F37746}"/>
              </a:ext>
            </a:extLst>
          </p:cNvPr>
          <p:cNvSpPr/>
          <p:nvPr/>
        </p:nvSpPr>
        <p:spPr>
          <a:xfrm>
            <a:off x="4672902" y="4742231"/>
            <a:ext cx="3596640" cy="1190599"/>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FFFFFF"/>
                </a:solidFill>
                <a:latin typeface="Calibri" pitchFamily="34" charset="0"/>
                <a:ea typeface="Calibri" pitchFamily="34" charset="-122"/>
                <a:cs typeface="Calibri" pitchFamily="34" charset="-120"/>
              </a:rPr>
              <a:t>The public data justify a disciplined test not a claim that a specific price strategy has already improved profit.</a:t>
            </a:r>
            <a:endParaRPr lang="en-US" dirty="0"/>
          </a:p>
        </p:txBody>
      </p:sp>
      <p:pic>
        <p:nvPicPr>
          <p:cNvPr id="21" name="Picture 20">
            <a:extLst>
              <a:ext uri="{FF2B5EF4-FFF2-40B4-BE49-F238E27FC236}">
                <a16:creationId xmlns:a16="http://schemas.microsoft.com/office/drawing/2014/main" id="{708E906F-8E23-1643-E29E-C6A80243D888}"/>
              </a:ext>
            </a:extLst>
          </p:cNvPr>
          <p:cNvPicPr>
            <a:picLocks noChangeAspect="1"/>
          </p:cNvPicPr>
          <p:nvPr/>
        </p:nvPicPr>
        <p:blipFill>
          <a:blip r:embed="rId3"/>
          <a:stretch>
            <a:fillRect/>
          </a:stretch>
        </p:blipFill>
        <p:spPr>
          <a:xfrm>
            <a:off x="5077970" y="3462240"/>
            <a:ext cx="2476656" cy="865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1614</TotalTime>
  <Words>1411</Words>
  <Application>Microsoft Office PowerPoint</Application>
  <PresentationFormat>Widescreen</PresentationFormat>
  <Paragraphs>168</Paragraphs>
  <Slides>12</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Tesco: Pricing, Profitability &amp; Competitive Strategy</dc:title>
  <dc:subject>PptxGenJS Presentation</dc:subject>
  <dc:creator>Strategy Team</dc:creator>
  <cp:lastModifiedBy>Sanjai Kanna.</cp:lastModifiedBy>
  <cp:revision>5</cp:revision>
  <dcterms:created xsi:type="dcterms:W3CDTF">2026-10-18T00:20:48Z</dcterms:created>
  <dcterms:modified xsi:type="dcterms:W3CDTF">2026-10-25T23:27:40Z</dcterms:modified>
</cp:coreProperties>
</file>